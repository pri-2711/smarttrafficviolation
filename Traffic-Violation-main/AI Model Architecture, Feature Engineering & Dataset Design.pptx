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B4D"/>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5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188720"/>
            <a:ext cx="10058400" cy="365760"/>
          </a:xfrm>
          <a:prstGeom prst="rect">
            <a:avLst/>
          </a:prstGeom>
          <a:noFill/>
        </p:spPr>
        <p:txBody>
          <a:bodyPr wrap="square" anchor="t" lIns="0" rIns="0" tIns="0" bIns="0">
            <a:spAutoFit/>
          </a:bodyPr>
          <a:lstStyle/>
          <a:p>
            <a:pPr algn="l">
              <a:lnSpc>
                <a:spcPct val="100000"/>
              </a:lnSpc>
            </a:pPr>
            <a:r>
              <a:rPr sz="1350" b="1" i="0">
                <a:solidFill>
                  <a:srgbClr val="C2542C"/>
                </a:solidFill>
                <a:latin typeface="Calibri"/>
              </a:rPr>
              <a:t>AIOT SMART HELMET DETECTION &amp; TRAFFIC VIOLATION MONITORING</a:t>
            </a:r>
          </a:p>
        </p:txBody>
      </p:sp>
      <p:sp>
        <p:nvSpPr>
          <p:cNvPr id="4" name="TextBox 3"/>
          <p:cNvSpPr txBox="1"/>
          <p:nvPr/>
        </p:nvSpPr>
        <p:spPr>
          <a:xfrm>
            <a:off x="822960" y="1645920"/>
            <a:ext cx="10607040" cy="1920240"/>
          </a:xfrm>
          <a:prstGeom prst="rect">
            <a:avLst/>
          </a:prstGeom>
          <a:noFill/>
        </p:spPr>
        <p:txBody>
          <a:bodyPr wrap="square" anchor="t" lIns="0" rIns="0" tIns="0" bIns="0">
            <a:spAutoFit/>
          </a:bodyPr>
          <a:lstStyle/>
          <a:p>
            <a:pPr algn="l">
              <a:lnSpc>
                <a:spcPct val="108000"/>
              </a:lnSpc>
            </a:pPr>
            <a:r>
              <a:rPr sz="3900" b="1" i="0">
                <a:solidFill>
                  <a:srgbClr val="F6F2EA"/>
                </a:solidFill>
                <a:latin typeface="Calibri"/>
              </a:rPr>
              <a:t>AI Model Architecture,</a:t>
            </a:r>
          </a:p>
          <a:p>
            <a:pPr algn="l">
              <a:lnSpc>
                <a:spcPct val="108000"/>
              </a:lnSpc>
            </a:pPr>
            <a:r>
              <a:rPr sz="3900" b="1" i="0">
                <a:solidFill>
                  <a:srgbClr val="F6F2EA"/>
                </a:solidFill>
                <a:latin typeface="Calibri"/>
              </a:rPr>
              <a:t>Feature Engineering &amp; Dataset Design</a:t>
            </a:r>
          </a:p>
        </p:txBody>
      </p:sp>
      <p:sp>
        <p:nvSpPr>
          <p:cNvPr id="5" name="TextBox 4"/>
          <p:cNvSpPr txBox="1"/>
          <p:nvPr/>
        </p:nvSpPr>
        <p:spPr>
          <a:xfrm>
            <a:off x="868680" y="3337560"/>
            <a:ext cx="9601200" cy="548640"/>
          </a:xfrm>
          <a:prstGeom prst="rect">
            <a:avLst/>
          </a:prstGeom>
          <a:noFill/>
        </p:spPr>
        <p:txBody>
          <a:bodyPr wrap="square" anchor="t" lIns="0" rIns="0" tIns="0" bIns="0">
            <a:spAutoFit/>
          </a:bodyPr>
          <a:lstStyle/>
          <a:p>
            <a:pPr algn="l">
              <a:lnSpc>
                <a:spcPct val="100000"/>
              </a:lnSpc>
            </a:pPr>
            <a:r>
              <a:rPr sz="1500" b="0" i="1">
                <a:solidFill>
                  <a:srgbClr val="B9C4CB"/>
                </a:solidFill>
                <a:latin typeface="Calibri"/>
              </a:rPr>
              <a:t>The vision layer that turns a captured roadside snapshot into a logged traffic violation.</a:t>
            </a:r>
          </a:p>
        </p:txBody>
      </p:sp>
      <p:cxnSp>
        <p:nvCxnSpPr>
          <p:cNvPr id="6" name="Connector 5"/>
          <p:cNvCxnSpPr/>
          <p:nvPr/>
        </p:nvCxnSpPr>
        <p:spPr>
          <a:xfrm>
            <a:off x="868680" y="4160520"/>
            <a:ext cx="4800600" cy="0"/>
          </a:xfrm>
          <a:prstGeom prst="line">
            <a:avLst/>
          </a:prstGeom>
          <a:ln w="12700">
            <a:solidFill>
              <a:srgbClr val="3A546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4315968"/>
            <a:ext cx="5486400" cy="274320"/>
          </a:xfrm>
          <a:prstGeom prst="rect">
            <a:avLst/>
          </a:prstGeom>
          <a:noFill/>
        </p:spPr>
        <p:txBody>
          <a:bodyPr wrap="square" anchor="t" lIns="0" rIns="0" tIns="0" bIns="0">
            <a:spAutoFit/>
          </a:bodyPr>
          <a:lstStyle/>
          <a:p>
            <a:pPr algn="l">
              <a:lnSpc>
                <a:spcPct val="100000"/>
              </a:lnSpc>
            </a:pPr>
            <a:r>
              <a:rPr sz="1100" b="1" i="0">
                <a:solidFill>
                  <a:srgbClr val="C2542C"/>
                </a:solidFill>
                <a:latin typeface="Calibri"/>
              </a:rPr>
              <a:t>PRESENTED BY</a:t>
            </a:r>
          </a:p>
        </p:txBody>
      </p:sp>
      <p:sp>
        <p:nvSpPr>
          <p:cNvPr id="8" name="TextBox 7"/>
          <p:cNvSpPr txBox="1"/>
          <p:nvPr/>
        </p:nvSpPr>
        <p:spPr>
          <a:xfrm>
            <a:off x="868680" y="4617720"/>
            <a:ext cx="5486400" cy="1188720"/>
          </a:xfrm>
          <a:prstGeom prst="rect">
            <a:avLst/>
          </a:prstGeom>
          <a:noFill/>
        </p:spPr>
        <p:txBody>
          <a:bodyPr wrap="square" anchor="t" lIns="0" rIns="0" tIns="0" bIns="0">
            <a:spAutoFit/>
          </a:bodyPr>
          <a:lstStyle/>
          <a:p>
            <a:pPr algn="l">
              <a:lnSpc>
                <a:spcPct val="135000"/>
              </a:lnSpc>
            </a:pPr>
            <a:r>
              <a:rPr sz="1500" b="0" i="0">
                <a:solidFill>
                  <a:srgbClr val="F6F2EA"/>
                </a:solidFill>
                <a:latin typeface="Calibri"/>
              </a:rPr>
              <a:t>Priyanka Bhatt  –  23000474</a:t>
            </a:r>
          </a:p>
          <a:p>
            <a:pPr algn="l">
              <a:lnSpc>
                <a:spcPct val="135000"/>
              </a:lnSpc>
            </a:pPr>
            <a:r>
              <a:rPr sz="1500" b="0" i="0">
                <a:solidFill>
                  <a:srgbClr val="F6F2EA"/>
                </a:solidFill>
                <a:latin typeface="Calibri"/>
              </a:rPr>
              <a:t>Birva Dholakiya  –  23000749</a:t>
            </a:r>
          </a:p>
          <a:p>
            <a:pPr algn="l">
              <a:lnSpc>
                <a:spcPct val="135000"/>
              </a:lnSpc>
            </a:pPr>
            <a:r>
              <a:rPr sz="1500" b="0" i="0">
                <a:solidFill>
                  <a:srgbClr val="F6F2EA"/>
                </a:solidFill>
                <a:latin typeface="Calibri"/>
              </a:rPr>
              <a:t>Parin Shah  –  23001091</a:t>
            </a:r>
          </a:p>
        </p:txBody>
      </p:sp>
      <p:sp>
        <p:nvSpPr>
          <p:cNvPr id="9" name="TextBox 8"/>
          <p:cNvSpPr txBox="1"/>
          <p:nvPr/>
        </p:nvSpPr>
        <p:spPr>
          <a:xfrm>
            <a:off x="868680" y="6263640"/>
            <a:ext cx="3657600" cy="274320"/>
          </a:xfrm>
          <a:prstGeom prst="rect">
            <a:avLst/>
          </a:prstGeom>
          <a:noFill/>
        </p:spPr>
        <p:txBody>
          <a:bodyPr wrap="square" anchor="t" lIns="0" rIns="0" tIns="0" bIns="0">
            <a:spAutoFit/>
          </a:bodyPr>
          <a:lstStyle/>
          <a:p>
            <a:pPr algn="l">
              <a:lnSpc>
                <a:spcPct val="100000"/>
              </a:lnSpc>
            </a:pPr>
            <a:r>
              <a:rPr sz="1100" b="0" i="0">
                <a:solidFill>
                  <a:srgbClr val="B9C4CB"/>
                </a:solidFill>
                <a:latin typeface="Calibri"/>
              </a:rPr>
              <a:t>CSE712 · Artificial Intelligence of Things</a:t>
            </a:r>
          </a:p>
        </p:txBody>
      </p:sp>
      <p:sp>
        <p:nvSpPr>
          <p:cNvPr id="10" name="TextBox 9"/>
          <p:cNvSpPr txBox="1"/>
          <p:nvPr/>
        </p:nvSpPr>
        <p:spPr>
          <a:xfrm>
            <a:off x="8595360" y="6263640"/>
            <a:ext cx="3017520" cy="274320"/>
          </a:xfrm>
          <a:prstGeom prst="rect">
            <a:avLst/>
          </a:prstGeom>
          <a:noFill/>
        </p:spPr>
        <p:txBody>
          <a:bodyPr wrap="square" anchor="t" lIns="0" rIns="0" tIns="0" bIns="0">
            <a:spAutoFit/>
          </a:bodyPr>
          <a:lstStyle/>
          <a:p>
            <a:pPr algn="r">
              <a:lnSpc>
                <a:spcPct val="100000"/>
              </a:lnSpc>
            </a:pPr>
            <a:r>
              <a:rPr sz="1100" b="0" i="0">
                <a:solidFill>
                  <a:srgbClr val="B9C4CB"/>
                </a:solidFill>
                <a:latin typeface="Calibri"/>
              </a:rPr>
              <a:t>9/17/2026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82296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AGENDA</a:t>
            </a:r>
          </a:p>
        </p:txBody>
      </p:sp>
      <p:sp>
        <p:nvSpPr>
          <p:cNvPr id="4" name="TextBox 3"/>
          <p:cNvSpPr txBox="1"/>
          <p:nvPr/>
        </p:nvSpPr>
        <p:spPr>
          <a:xfrm>
            <a:off x="621792" y="777240"/>
            <a:ext cx="5486400" cy="640080"/>
          </a:xfrm>
          <a:prstGeom prst="rect">
            <a:avLst/>
          </a:prstGeom>
          <a:noFill/>
        </p:spPr>
        <p:txBody>
          <a:bodyPr wrap="square" anchor="t" lIns="0" rIns="0" tIns="0" bIns="0">
            <a:spAutoFit/>
          </a:bodyPr>
          <a:lstStyle/>
          <a:p>
            <a:pPr algn="l">
              <a:lnSpc>
                <a:spcPct val="100000"/>
              </a:lnSpc>
            </a:pPr>
            <a:r>
              <a:rPr sz="3300" b="1" i="0">
                <a:solidFill>
                  <a:srgbClr val="211D18"/>
                </a:solidFill>
                <a:latin typeface="Calibri"/>
              </a:rPr>
              <a:t>Agenda</a:t>
            </a:r>
          </a:p>
        </p:txBody>
      </p:sp>
      <p:sp>
        <p:nvSpPr>
          <p:cNvPr id="5" name="TextBox 4"/>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6" name="TextBox 5"/>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7" name="TextBox 6"/>
          <p:cNvSpPr txBox="1"/>
          <p:nvPr/>
        </p:nvSpPr>
        <p:spPr>
          <a:xfrm>
            <a:off x="640080" y="1874519"/>
            <a:ext cx="822960" cy="822960"/>
          </a:xfrm>
          <a:prstGeom prst="rect">
            <a:avLst/>
          </a:prstGeom>
          <a:noFill/>
        </p:spPr>
        <p:txBody>
          <a:bodyPr wrap="square" anchor="t" lIns="0" rIns="0" tIns="0" bIns="0">
            <a:spAutoFit/>
          </a:bodyPr>
          <a:lstStyle/>
          <a:p>
            <a:pPr algn="l">
              <a:lnSpc>
                <a:spcPct val="100000"/>
              </a:lnSpc>
            </a:pPr>
            <a:r>
              <a:rPr sz="3000" b="1" i="0">
                <a:solidFill>
                  <a:srgbClr val="C2542C"/>
                </a:solidFill>
                <a:latin typeface="Calibri"/>
              </a:rPr>
              <a:t>01</a:t>
            </a:r>
          </a:p>
        </p:txBody>
      </p:sp>
      <p:cxnSp>
        <p:nvCxnSpPr>
          <p:cNvPr id="8" name="Connector 7"/>
          <p:cNvCxnSpPr/>
          <p:nvPr/>
        </p:nvCxnSpPr>
        <p:spPr>
          <a:xfrm>
            <a:off x="1417320" y="1920239"/>
            <a:ext cx="0" cy="822960"/>
          </a:xfrm>
          <a:prstGeom prst="line">
            <a:avLst/>
          </a:prstGeom>
          <a:ln w="15875">
            <a:solidFill>
              <a:srgbClr val="D7CDB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691640" y="1892807"/>
            <a:ext cx="9692640" cy="365760"/>
          </a:xfrm>
          <a:prstGeom prst="rect">
            <a:avLst/>
          </a:prstGeom>
          <a:noFill/>
        </p:spPr>
        <p:txBody>
          <a:bodyPr wrap="square" anchor="t" lIns="0" rIns="0" tIns="0" bIns="0">
            <a:spAutoFit/>
          </a:bodyPr>
          <a:lstStyle/>
          <a:p>
            <a:pPr algn="l">
              <a:lnSpc>
                <a:spcPct val="100000"/>
              </a:lnSpc>
            </a:pPr>
            <a:r>
              <a:rPr sz="1850" b="1" i="0">
                <a:solidFill>
                  <a:srgbClr val="211D18"/>
                </a:solidFill>
                <a:latin typeface="Calibri"/>
              </a:rPr>
              <a:t>Overview &amp; AI Model Architecture</a:t>
            </a:r>
          </a:p>
        </p:txBody>
      </p:sp>
      <p:sp>
        <p:nvSpPr>
          <p:cNvPr id="10" name="TextBox 9"/>
          <p:cNvSpPr txBox="1"/>
          <p:nvPr/>
        </p:nvSpPr>
        <p:spPr>
          <a:xfrm>
            <a:off x="1691640" y="2313431"/>
            <a:ext cx="9692640" cy="457200"/>
          </a:xfrm>
          <a:prstGeom prst="rect">
            <a:avLst/>
          </a:prstGeom>
          <a:noFill/>
        </p:spPr>
        <p:txBody>
          <a:bodyPr wrap="square" anchor="t" lIns="0" rIns="0" tIns="0" bIns="0">
            <a:spAutoFit/>
          </a:bodyPr>
          <a:lstStyle/>
          <a:p>
            <a:pPr algn="l">
              <a:lnSpc>
                <a:spcPct val="100000"/>
              </a:lnSpc>
            </a:pPr>
            <a:r>
              <a:rPr sz="1250" b="0" i="0">
                <a:solidFill>
                  <a:srgbClr val="6E655A"/>
                </a:solidFill>
                <a:latin typeface="Calibri"/>
              </a:rPr>
              <a:t>Why we split the system into several focused models, and how feature engineering fits in.</a:t>
            </a:r>
          </a:p>
        </p:txBody>
      </p:sp>
      <p:sp>
        <p:nvSpPr>
          <p:cNvPr id="11" name="TextBox 10"/>
          <p:cNvSpPr txBox="1"/>
          <p:nvPr/>
        </p:nvSpPr>
        <p:spPr>
          <a:xfrm>
            <a:off x="640080" y="3044951"/>
            <a:ext cx="822960" cy="822960"/>
          </a:xfrm>
          <a:prstGeom prst="rect">
            <a:avLst/>
          </a:prstGeom>
          <a:noFill/>
        </p:spPr>
        <p:txBody>
          <a:bodyPr wrap="square" anchor="t" lIns="0" rIns="0" tIns="0" bIns="0">
            <a:spAutoFit/>
          </a:bodyPr>
          <a:lstStyle/>
          <a:p>
            <a:pPr algn="l">
              <a:lnSpc>
                <a:spcPct val="100000"/>
              </a:lnSpc>
            </a:pPr>
            <a:r>
              <a:rPr sz="3000" b="1" i="0">
                <a:solidFill>
                  <a:srgbClr val="C2542C"/>
                </a:solidFill>
                <a:latin typeface="Calibri"/>
              </a:rPr>
              <a:t>02</a:t>
            </a:r>
          </a:p>
        </p:txBody>
      </p:sp>
      <p:cxnSp>
        <p:nvCxnSpPr>
          <p:cNvPr id="12" name="Connector 11"/>
          <p:cNvCxnSpPr/>
          <p:nvPr/>
        </p:nvCxnSpPr>
        <p:spPr>
          <a:xfrm>
            <a:off x="1417320" y="3090671"/>
            <a:ext cx="0" cy="822960"/>
          </a:xfrm>
          <a:prstGeom prst="line">
            <a:avLst/>
          </a:prstGeom>
          <a:ln w="15875">
            <a:solidFill>
              <a:srgbClr val="D7CDB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91640" y="3063239"/>
            <a:ext cx="9692640" cy="365760"/>
          </a:xfrm>
          <a:prstGeom prst="rect">
            <a:avLst/>
          </a:prstGeom>
          <a:noFill/>
        </p:spPr>
        <p:txBody>
          <a:bodyPr wrap="square" anchor="t" lIns="0" rIns="0" tIns="0" bIns="0">
            <a:spAutoFit/>
          </a:bodyPr>
          <a:lstStyle/>
          <a:p>
            <a:pPr algn="l">
              <a:lnSpc>
                <a:spcPct val="100000"/>
              </a:lnSpc>
            </a:pPr>
            <a:r>
              <a:rPr sz="1850" b="1" i="0">
                <a:solidFill>
                  <a:srgbClr val="211D18"/>
                </a:solidFill>
                <a:latin typeface="Calibri"/>
              </a:rPr>
              <a:t>Dataset Selection &amp; Preparation</a:t>
            </a:r>
          </a:p>
        </p:txBody>
      </p:sp>
      <p:sp>
        <p:nvSpPr>
          <p:cNvPr id="14" name="TextBox 13"/>
          <p:cNvSpPr txBox="1"/>
          <p:nvPr/>
        </p:nvSpPr>
        <p:spPr>
          <a:xfrm>
            <a:off x="1691640" y="3483863"/>
            <a:ext cx="9692640" cy="457200"/>
          </a:xfrm>
          <a:prstGeom prst="rect">
            <a:avLst/>
          </a:prstGeom>
          <a:noFill/>
        </p:spPr>
        <p:txBody>
          <a:bodyPr wrap="square" anchor="t" lIns="0" rIns="0" tIns="0" bIns="0">
            <a:spAutoFit/>
          </a:bodyPr>
          <a:lstStyle/>
          <a:p>
            <a:pPr algn="l">
              <a:lnSpc>
                <a:spcPct val="100000"/>
              </a:lnSpc>
            </a:pPr>
            <a:r>
              <a:rPr sz="1250" b="0" i="0">
                <a:solidFill>
                  <a:srgbClr val="6E655A"/>
                </a:solidFill>
                <a:latin typeface="Calibri"/>
              </a:rPr>
              <a:t>Which public datasets we chose, and how we cleaned and prepared them.</a:t>
            </a:r>
          </a:p>
        </p:txBody>
      </p:sp>
      <p:sp>
        <p:nvSpPr>
          <p:cNvPr id="15" name="TextBox 14"/>
          <p:cNvSpPr txBox="1"/>
          <p:nvPr/>
        </p:nvSpPr>
        <p:spPr>
          <a:xfrm>
            <a:off x="640080" y="4215383"/>
            <a:ext cx="822960" cy="822960"/>
          </a:xfrm>
          <a:prstGeom prst="rect">
            <a:avLst/>
          </a:prstGeom>
          <a:noFill/>
        </p:spPr>
        <p:txBody>
          <a:bodyPr wrap="square" anchor="t" lIns="0" rIns="0" tIns="0" bIns="0">
            <a:spAutoFit/>
          </a:bodyPr>
          <a:lstStyle/>
          <a:p>
            <a:pPr algn="l">
              <a:lnSpc>
                <a:spcPct val="100000"/>
              </a:lnSpc>
            </a:pPr>
            <a:r>
              <a:rPr sz="3000" b="1" i="0">
                <a:solidFill>
                  <a:srgbClr val="C2542C"/>
                </a:solidFill>
                <a:latin typeface="Calibri"/>
              </a:rPr>
              <a:t>03</a:t>
            </a:r>
          </a:p>
        </p:txBody>
      </p:sp>
      <p:cxnSp>
        <p:nvCxnSpPr>
          <p:cNvPr id="16" name="Connector 15"/>
          <p:cNvCxnSpPr/>
          <p:nvPr/>
        </p:nvCxnSpPr>
        <p:spPr>
          <a:xfrm>
            <a:off x="1417320" y="4261103"/>
            <a:ext cx="0" cy="822960"/>
          </a:xfrm>
          <a:prstGeom prst="line">
            <a:avLst/>
          </a:prstGeom>
          <a:ln w="15875">
            <a:solidFill>
              <a:srgbClr val="D7CD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91640" y="4233671"/>
            <a:ext cx="9692640" cy="365760"/>
          </a:xfrm>
          <a:prstGeom prst="rect">
            <a:avLst/>
          </a:prstGeom>
          <a:noFill/>
        </p:spPr>
        <p:txBody>
          <a:bodyPr wrap="square" anchor="t" lIns="0" rIns="0" tIns="0" bIns="0">
            <a:spAutoFit/>
          </a:bodyPr>
          <a:lstStyle/>
          <a:p>
            <a:pPr algn="l">
              <a:lnSpc>
                <a:spcPct val="100000"/>
              </a:lnSpc>
            </a:pPr>
            <a:r>
              <a:rPr sz="1850" b="1" i="0">
                <a:solidFill>
                  <a:srgbClr val="211D18"/>
                </a:solidFill>
                <a:latin typeface="Calibri"/>
              </a:rPr>
              <a:t>Detailed AI Model Descriptions</a:t>
            </a:r>
          </a:p>
        </p:txBody>
      </p:sp>
      <p:sp>
        <p:nvSpPr>
          <p:cNvPr id="18" name="TextBox 17"/>
          <p:cNvSpPr txBox="1"/>
          <p:nvPr/>
        </p:nvSpPr>
        <p:spPr>
          <a:xfrm>
            <a:off x="1691640" y="4654295"/>
            <a:ext cx="9692640" cy="457200"/>
          </a:xfrm>
          <a:prstGeom prst="rect">
            <a:avLst/>
          </a:prstGeom>
          <a:noFill/>
        </p:spPr>
        <p:txBody>
          <a:bodyPr wrap="square" anchor="t" lIns="0" rIns="0" tIns="0" bIns="0">
            <a:spAutoFit/>
          </a:bodyPr>
          <a:lstStyle/>
          <a:p>
            <a:pPr algn="l">
              <a:lnSpc>
                <a:spcPct val="100000"/>
              </a:lnSpc>
            </a:pPr>
            <a:r>
              <a:rPr sz="1250" b="0" i="0">
                <a:solidFill>
                  <a:srgbClr val="6E655A"/>
                </a:solidFill>
                <a:latin typeface="Calibri"/>
              </a:rPr>
              <a:t>A closer look at each model, including the one we designed and trained ourselves.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3B4D"/>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5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286000"/>
            <a:ext cx="2743200" cy="1371600"/>
          </a:xfrm>
          <a:prstGeom prst="rect">
            <a:avLst/>
          </a:prstGeom>
          <a:noFill/>
        </p:spPr>
        <p:txBody>
          <a:bodyPr wrap="square" anchor="t" lIns="0" rIns="0" tIns="0" bIns="0">
            <a:spAutoFit/>
          </a:bodyPr>
          <a:lstStyle/>
          <a:p>
            <a:pPr algn="l">
              <a:lnSpc>
                <a:spcPct val="100000"/>
              </a:lnSpc>
            </a:pPr>
            <a:r>
              <a:rPr sz="10000" b="1" i="0">
                <a:solidFill>
                  <a:srgbClr val="C2542C"/>
                </a:solidFill>
                <a:latin typeface="Calibri"/>
              </a:rPr>
              <a:t>01</a:t>
            </a:r>
          </a:p>
        </p:txBody>
      </p:sp>
      <p:sp>
        <p:nvSpPr>
          <p:cNvPr id="4" name="TextBox 3"/>
          <p:cNvSpPr txBox="1"/>
          <p:nvPr/>
        </p:nvSpPr>
        <p:spPr>
          <a:xfrm>
            <a:off x="896112" y="3703320"/>
            <a:ext cx="10058400" cy="1188720"/>
          </a:xfrm>
          <a:prstGeom prst="rect">
            <a:avLst/>
          </a:prstGeom>
          <a:noFill/>
        </p:spPr>
        <p:txBody>
          <a:bodyPr wrap="square" anchor="t" lIns="0" rIns="0" tIns="0" bIns="0">
            <a:spAutoFit/>
          </a:bodyPr>
          <a:lstStyle/>
          <a:p>
            <a:pPr algn="l">
              <a:lnSpc>
                <a:spcPct val="100000"/>
              </a:lnSpc>
            </a:pPr>
            <a:r>
              <a:rPr sz="3200" b="1" i="0">
                <a:solidFill>
                  <a:srgbClr val="F6F2EA"/>
                </a:solidFill>
                <a:latin typeface="Calibri"/>
              </a:rPr>
              <a:t>Overview &amp; AI Model Architecture</a:t>
            </a:r>
          </a:p>
        </p:txBody>
      </p:sp>
      <p:sp>
        <p:nvSpPr>
          <p:cNvPr id="5" name="TextBox 4"/>
          <p:cNvSpPr txBox="1"/>
          <p:nvPr/>
        </p:nvSpPr>
        <p:spPr>
          <a:xfrm>
            <a:off x="914400" y="4480560"/>
            <a:ext cx="9601200" cy="731520"/>
          </a:xfrm>
          <a:prstGeom prst="rect">
            <a:avLst/>
          </a:prstGeom>
          <a:noFill/>
        </p:spPr>
        <p:txBody>
          <a:bodyPr wrap="square" anchor="t" lIns="0" rIns="0" tIns="0" bIns="0">
            <a:spAutoFit/>
          </a:bodyPr>
          <a:lstStyle/>
          <a:p>
            <a:pPr algn="l">
              <a:lnSpc>
                <a:spcPct val="100000"/>
              </a:lnSpc>
            </a:pPr>
            <a:r>
              <a:rPr sz="1400" b="0" i="1">
                <a:solidFill>
                  <a:srgbClr val="C9C0AE"/>
                </a:solidFill>
                <a:latin typeface="Calibri"/>
              </a:rPr>
              <a:t>Why we split the system into several focused models — and how we built our own detector.</a:t>
            </a:r>
          </a:p>
        </p:txBody>
      </p:sp>
      <p:sp>
        <p:nvSpPr>
          <p:cNvPr id="6" name="TextBox 5"/>
          <p:cNvSpPr txBox="1"/>
          <p:nvPr/>
        </p:nvSpPr>
        <p:spPr>
          <a:xfrm>
            <a:off x="868680" y="6263640"/>
            <a:ext cx="3657600" cy="274320"/>
          </a:xfrm>
          <a:prstGeom prst="rect">
            <a:avLst/>
          </a:prstGeom>
          <a:noFill/>
        </p:spPr>
        <p:txBody>
          <a:bodyPr wrap="square" anchor="t" lIns="0" rIns="0" tIns="0" bIns="0">
            <a:spAutoFit/>
          </a:bodyPr>
          <a:lstStyle/>
          <a:p>
            <a:pPr algn="l">
              <a:lnSpc>
                <a:spcPct val="100000"/>
              </a:lnSpc>
            </a:pPr>
            <a:r>
              <a:rPr sz="1100" b="0" i="0">
                <a:solidFill>
                  <a:srgbClr val="A89E8C"/>
                </a:solidFill>
                <a:latin typeface="Calibri"/>
              </a:rPr>
              <a:t>9/17/2026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OVERVIEW &amp; AI MODEL ARCHITECTURE</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700" b="1" i="0">
                <a:solidFill>
                  <a:srgbClr val="211D18"/>
                </a:solidFill>
                <a:latin typeface="Calibri"/>
              </a:rPr>
              <a:t>THE TWO-WHEELER VISION STACK</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01</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TextBox 8"/>
          <p:cNvSpPr txBox="1"/>
          <p:nvPr/>
        </p:nvSpPr>
        <p:spPr>
          <a:xfrm>
            <a:off x="640080" y="1627632"/>
            <a:ext cx="5257800" cy="292608"/>
          </a:xfrm>
          <a:prstGeom prst="rect">
            <a:avLst/>
          </a:prstGeom>
          <a:noFill/>
        </p:spPr>
        <p:txBody>
          <a:bodyPr wrap="square" anchor="t" lIns="0" rIns="0" tIns="0" bIns="0">
            <a:spAutoFit/>
          </a:bodyPr>
          <a:lstStyle/>
          <a:p>
            <a:pPr algn="l">
              <a:lnSpc>
                <a:spcPct val="100000"/>
              </a:lnSpc>
            </a:pPr>
            <a:r>
              <a:rPr sz="1450" b="1" i="0">
                <a:solidFill>
                  <a:srgbClr val="1F3B4D"/>
                </a:solidFill>
                <a:latin typeface="Calibri"/>
              </a:rPr>
              <a:t>Why several small models</a:t>
            </a:r>
          </a:p>
        </p:txBody>
      </p:sp>
      <p:sp>
        <p:nvSpPr>
          <p:cNvPr id="10" name="TextBox 9"/>
          <p:cNvSpPr txBox="1"/>
          <p:nvPr/>
        </p:nvSpPr>
        <p:spPr>
          <a:xfrm>
            <a:off x="640080" y="1975104"/>
            <a:ext cx="5257800" cy="1051560"/>
          </a:xfrm>
          <a:prstGeom prst="rect">
            <a:avLst/>
          </a:prstGeom>
          <a:noFill/>
        </p:spPr>
        <p:txBody>
          <a:bodyPr wrap="square" anchor="t" lIns="0" rIns="0" tIns="0" bIns="0">
            <a:spAutoFit/>
          </a:bodyPr>
          <a:lstStyle/>
          <a:p>
            <a:pPr algn="l">
              <a:lnSpc>
                <a:spcPct val="130000"/>
              </a:lnSpc>
            </a:pPr>
            <a:r>
              <a:rPr sz="1250" b="0" i="0">
                <a:solidFill>
                  <a:srgbClr val="211D18"/>
                </a:solidFill>
                <a:latin typeface="Calibri"/>
              </a:rPr>
              <a:t>We split the system into small models that each do one job, instead of one model trying to do everything. This makes each part easier to build and test, and keeps one part's mistakes from dragging down the rest.</a:t>
            </a:r>
          </a:p>
        </p:txBody>
      </p:sp>
      <p:sp>
        <p:nvSpPr>
          <p:cNvPr id="11" name="TextBox 10"/>
          <p:cNvSpPr txBox="1"/>
          <p:nvPr/>
        </p:nvSpPr>
        <p:spPr>
          <a:xfrm>
            <a:off x="640080" y="3127248"/>
            <a:ext cx="5257800" cy="292608"/>
          </a:xfrm>
          <a:prstGeom prst="rect">
            <a:avLst/>
          </a:prstGeom>
          <a:noFill/>
        </p:spPr>
        <p:txBody>
          <a:bodyPr wrap="square" anchor="t" lIns="0" rIns="0" tIns="0" bIns="0">
            <a:spAutoFit/>
          </a:bodyPr>
          <a:lstStyle/>
          <a:p>
            <a:pPr algn="l">
              <a:lnSpc>
                <a:spcPct val="100000"/>
              </a:lnSpc>
            </a:pPr>
            <a:r>
              <a:rPr sz="1450" b="1" i="0">
                <a:solidFill>
                  <a:srgbClr val="1F3B4D"/>
                </a:solidFill>
                <a:latin typeface="Calibri"/>
              </a:rPr>
              <a:t>What's in the system</a:t>
            </a:r>
          </a:p>
        </p:txBody>
      </p:sp>
      <p:sp>
        <p:nvSpPr>
          <p:cNvPr id="12" name="TextBox 11"/>
          <p:cNvSpPr txBox="1"/>
          <p:nvPr/>
        </p:nvSpPr>
        <p:spPr>
          <a:xfrm>
            <a:off x="640080" y="3474720"/>
            <a:ext cx="5440680" cy="2743200"/>
          </a:xfrm>
          <a:prstGeom prst="rect">
            <a:avLst/>
          </a:prstGeom>
          <a:noFill/>
        </p:spPr>
        <p:txBody>
          <a:bodyPr wrap="square" lIns="0" rIns="0" tIns="0" bIns="0">
            <a:spAutoFit/>
          </a:bodyPr>
          <a:lstStyle/>
          <a:p>
            <a:pPr>
              <a:lnSpc>
                <a:spcPct val="115000"/>
              </a:lnSpc>
              <a:spcAft>
                <a:spcPts val="1100"/>
              </a:spcAft>
            </a:pPr>
            <a:r>
              <a:rPr b="1" sz="1130">
                <a:solidFill>
                  <a:srgbClr val="1F3B4D"/>
                </a:solidFill>
                <a:latin typeface="Calibri"/>
              </a:rPr>
              <a:t>—  Edge Threshold Trigger:  </a:t>
            </a:r>
            <a:r>
              <a:rPr sz="1130">
                <a:solidFill>
                  <a:srgbClr val="211D18"/>
                </a:solidFill>
                <a:latin typeface="Calibri"/>
              </a:rPr>
              <a:t> checks vehicle speed on the ESP32 and decides when to take a photo.</a:t>
            </a:r>
          </a:p>
          <a:p>
            <a:pPr>
              <a:lnSpc>
                <a:spcPct val="115000"/>
              </a:lnSpc>
              <a:spcAft>
                <a:spcPts val="1100"/>
              </a:spcAft>
            </a:pPr>
            <a:r>
              <a:rPr b="1" sz="1130">
                <a:solidFill>
                  <a:srgbClr val="1F3B4D"/>
                </a:solidFill>
                <a:latin typeface="Calibri"/>
              </a:rPr>
              <a:t>—  Helmet &amp; Plate Detector:  </a:t>
            </a:r>
            <a:r>
              <a:rPr sz="1130">
                <a:solidFill>
                  <a:srgbClr val="211D18"/>
                </a:solidFill>
                <a:latin typeface="Calibri"/>
              </a:rPr>
              <a:t> our own model — spots helmets and plates in one look.</a:t>
            </a:r>
          </a:p>
          <a:p>
            <a:pPr>
              <a:lnSpc>
                <a:spcPct val="115000"/>
              </a:lnSpc>
              <a:spcAft>
                <a:spcPts val="1100"/>
              </a:spcAft>
            </a:pPr>
            <a:r>
              <a:rPr b="1" sz="1130">
                <a:solidFill>
                  <a:srgbClr val="1F3B4D"/>
                </a:solidFill>
                <a:latin typeface="Calibri"/>
              </a:rPr>
              <a:t>—  Triple-Riding Detector:  </a:t>
            </a:r>
            <a:r>
              <a:rPr sz="1130">
                <a:solidFill>
                  <a:srgbClr val="211D18"/>
                </a:solidFill>
                <a:latin typeface="Calibri"/>
              </a:rPr>
              <a:t> our own model — spots when three or more people share a bike.</a:t>
            </a:r>
          </a:p>
          <a:p>
            <a:pPr>
              <a:lnSpc>
                <a:spcPct val="115000"/>
              </a:lnSpc>
              <a:spcAft>
                <a:spcPts val="1100"/>
              </a:spcAft>
            </a:pPr>
            <a:r>
              <a:rPr b="1" sz="1130">
                <a:solidFill>
                  <a:srgbClr val="1F3B4D"/>
                </a:solidFill>
                <a:latin typeface="Calibri"/>
              </a:rPr>
              <a:t>—  YOLO26 (comparison only):  </a:t>
            </a:r>
            <a:r>
              <a:rPr sz="1130">
                <a:solidFill>
                  <a:srgbClr val="211D18"/>
                </a:solidFill>
                <a:latin typeface="Calibri"/>
              </a:rPr>
              <a:t> a ready-made detector we also train, just to see how close ours gets.</a:t>
            </a:r>
          </a:p>
          <a:p>
            <a:pPr>
              <a:lnSpc>
                <a:spcPct val="115000"/>
              </a:lnSpc>
              <a:spcAft>
                <a:spcPts val="1100"/>
              </a:spcAft>
            </a:pPr>
            <a:r>
              <a:rPr b="1" sz="1130">
                <a:solidFill>
                  <a:srgbClr val="1F3B4D"/>
                </a:solidFill>
                <a:latin typeface="Calibri"/>
              </a:rPr>
              <a:t>—  Plate OCR:  </a:t>
            </a:r>
            <a:r>
              <a:rPr sz="1130">
                <a:solidFill>
                  <a:srgbClr val="211D18"/>
                </a:solidFill>
                <a:latin typeface="Calibri"/>
              </a:rPr>
              <a:t> reads the plate text using an existing tool — not one we built.</a:t>
            </a:r>
          </a:p>
          <a:p>
            <a:pPr>
              <a:lnSpc>
                <a:spcPct val="115000"/>
              </a:lnSpc>
              <a:spcAft>
                <a:spcPts val="1100"/>
              </a:spcAft>
            </a:pPr>
            <a:r>
              <a:rPr b="1" sz="1130">
                <a:solidFill>
                  <a:srgbClr val="1F3B4D"/>
                </a:solidFill>
                <a:latin typeface="Calibri"/>
              </a:rPr>
              <a:t>—  Repeat-Violation Idea:  </a:t>
            </a:r>
            <a:r>
              <a:rPr sz="1130">
                <a:solidFill>
                  <a:srgbClr val="211D18"/>
                </a:solidFill>
                <a:latin typeface="Calibri"/>
              </a:rPr>
              <a:t> a future add-on, not built yet.</a:t>
            </a:r>
          </a:p>
        </p:txBody>
      </p:sp>
      <p:sp>
        <p:nvSpPr>
          <p:cNvPr id="13" name="TextBox 12"/>
          <p:cNvSpPr txBox="1"/>
          <p:nvPr/>
        </p:nvSpPr>
        <p:spPr>
          <a:xfrm>
            <a:off x="6263640" y="1627632"/>
            <a:ext cx="5285232" cy="292608"/>
          </a:xfrm>
          <a:prstGeom prst="rect">
            <a:avLst/>
          </a:prstGeom>
          <a:noFill/>
        </p:spPr>
        <p:txBody>
          <a:bodyPr wrap="square" anchor="t" lIns="0" rIns="0" tIns="0" bIns="0">
            <a:spAutoFit/>
          </a:bodyPr>
          <a:lstStyle/>
          <a:p>
            <a:pPr algn="l">
              <a:lnSpc>
                <a:spcPct val="100000"/>
              </a:lnSpc>
            </a:pPr>
            <a:r>
              <a:rPr sz="1450" b="1" i="0">
                <a:solidFill>
                  <a:srgbClr val="1F3B4D"/>
                </a:solidFill>
                <a:latin typeface="Calibri"/>
              </a:rPr>
              <a:t>End-to-end flow</a:t>
            </a:r>
          </a:p>
        </p:txBody>
      </p:sp>
      <p:sp>
        <p:nvSpPr>
          <p:cNvPr id="14" name="Rectangle 13"/>
          <p:cNvSpPr/>
          <p:nvPr/>
        </p:nvSpPr>
        <p:spPr>
          <a:xfrm>
            <a:off x="6263640" y="2029968"/>
            <a:ext cx="5285232" cy="603504"/>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200" b="1">
                <a:solidFill>
                  <a:srgbClr val="211D18"/>
                </a:solidFill>
                <a:latin typeface="Calibri"/>
              </a:rPr>
              <a:t>Sensors + Edge Trigger  (ESP32)</a:t>
            </a:r>
          </a:p>
        </p:txBody>
      </p:sp>
      <p:cxnSp>
        <p:nvCxnSpPr>
          <p:cNvPr id="15" name="Connector 14"/>
          <p:cNvCxnSpPr/>
          <p:nvPr/>
        </p:nvCxnSpPr>
        <p:spPr>
          <a:xfrm>
            <a:off x="8906256" y="2633472"/>
            <a:ext cx="0" cy="182880"/>
          </a:xfrm>
          <a:prstGeom prst="line">
            <a:avLst/>
          </a:prstGeom>
          <a:ln w="22225">
            <a:solidFill>
              <a:srgbClr val="C2542C"/>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263640" y="2816352"/>
            <a:ext cx="5285232" cy="603504"/>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200" b="1">
                <a:solidFill>
                  <a:srgbClr val="211D18"/>
                </a:solidFill>
                <a:latin typeface="Calibri"/>
              </a:rPr>
              <a:t>Snapshot  (ESP32-CAM)</a:t>
            </a:r>
          </a:p>
        </p:txBody>
      </p:sp>
      <p:cxnSp>
        <p:nvCxnSpPr>
          <p:cNvPr id="17" name="Connector 16"/>
          <p:cNvCxnSpPr/>
          <p:nvPr/>
        </p:nvCxnSpPr>
        <p:spPr>
          <a:xfrm>
            <a:off x="8906256" y="3419856"/>
            <a:ext cx="0" cy="182880"/>
          </a:xfrm>
          <a:prstGeom prst="line">
            <a:avLst/>
          </a:prstGeom>
          <a:ln w="22225">
            <a:solidFill>
              <a:srgbClr val="C2542C"/>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263640" y="3602736"/>
            <a:ext cx="5285232" cy="603504"/>
          </a:xfrm>
          <a:prstGeom prst="rect">
            <a:avLst/>
          </a:prstGeom>
          <a:solidFill>
            <a:srgbClr val="E3D9C2"/>
          </a:solidFill>
          <a:ln w="952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200" b="1">
                <a:solidFill>
                  <a:srgbClr val="211D18"/>
                </a:solidFill>
                <a:latin typeface="Calibri"/>
              </a:rPr>
              <a:t>Our Detection Models  (both run at once)</a:t>
            </a:r>
          </a:p>
        </p:txBody>
      </p:sp>
      <p:cxnSp>
        <p:nvCxnSpPr>
          <p:cNvPr id="19" name="Connector 18"/>
          <p:cNvCxnSpPr/>
          <p:nvPr/>
        </p:nvCxnSpPr>
        <p:spPr>
          <a:xfrm>
            <a:off x="8906256" y="4206240"/>
            <a:ext cx="0" cy="182880"/>
          </a:xfrm>
          <a:prstGeom prst="line">
            <a:avLst/>
          </a:prstGeom>
          <a:ln w="22225">
            <a:solidFill>
              <a:srgbClr val="C2542C"/>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263640" y="4389120"/>
            <a:ext cx="5285232" cy="603504"/>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200" b="1">
                <a:solidFill>
                  <a:srgbClr val="211D18"/>
                </a:solidFill>
                <a:latin typeface="Calibri"/>
              </a:rPr>
              <a:t>Plate OCR  (only if a violation is found)</a:t>
            </a:r>
          </a:p>
        </p:txBody>
      </p:sp>
      <p:cxnSp>
        <p:nvCxnSpPr>
          <p:cNvPr id="21" name="Connector 20"/>
          <p:cNvCxnSpPr/>
          <p:nvPr/>
        </p:nvCxnSpPr>
        <p:spPr>
          <a:xfrm>
            <a:off x="8906256" y="4992624"/>
            <a:ext cx="0" cy="182880"/>
          </a:xfrm>
          <a:prstGeom prst="line">
            <a:avLst/>
          </a:prstGeom>
          <a:ln w="22225">
            <a:solidFill>
              <a:srgbClr val="C2542C"/>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263640" y="5175504"/>
            <a:ext cx="5285232" cy="603504"/>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200" b="1">
                <a:solidFill>
                  <a:srgbClr val="211D18"/>
                </a:solidFill>
                <a:latin typeface="Calibri"/>
              </a:rPr>
              <a:t>Violation Log +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OVERVIEW &amp; AI MODEL ARCHITECTURE</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700" b="1" i="0">
                <a:solidFill>
                  <a:srgbClr val="211D18"/>
                </a:solidFill>
                <a:latin typeface="Calibri"/>
              </a:rPr>
              <a:t>FEATURE ENGINEERING ACROSS THE PIPELINE</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01</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TextBox 8"/>
          <p:cNvSpPr txBox="1"/>
          <p:nvPr/>
        </p:nvSpPr>
        <p:spPr>
          <a:xfrm>
            <a:off x="640080" y="1600200"/>
            <a:ext cx="10881360" cy="457200"/>
          </a:xfrm>
          <a:prstGeom prst="rect">
            <a:avLst/>
          </a:prstGeom>
          <a:noFill/>
        </p:spPr>
        <p:txBody>
          <a:bodyPr wrap="square" anchor="t" lIns="0" rIns="0" tIns="0" bIns="0">
            <a:spAutoFit/>
          </a:bodyPr>
          <a:lstStyle/>
          <a:p>
            <a:pPr algn="l">
              <a:lnSpc>
                <a:spcPct val="100000"/>
              </a:lnSpc>
            </a:pPr>
            <a:r>
              <a:rPr sz="1300" b="0" i="1">
                <a:solidFill>
                  <a:srgbClr val="6E655A"/>
                </a:solidFill>
                <a:latin typeface="Calibri"/>
              </a:rPr>
              <a:t>Some parts of the system learn on their own; other parts still rely on simple rules we designed by hand.</a:t>
            </a:r>
          </a:p>
        </p:txBody>
      </p:sp>
      <p:sp>
        <p:nvSpPr>
          <p:cNvPr id="10" name="Rectangle 9"/>
          <p:cNvSpPr/>
          <p:nvPr/>
        </p:nvSpPr>
        <p:spPr>
          <a:xfrm>
            <a:off x="640080" y="2286000"/>
            <a:ext cx="5285232" cy="1783080"/>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286000"/>
            <a:ext cx="54864" cy="1783080"/>
          </a:xfrm>
          <a:prstGeom prst="rect">
            <a:avLst/>
          </a:prstGeom>
          <a:solidFill>
            <a:srgbClr val="C25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68880"/>
            <a:ext cx="4782312" cy="365760"/>
          </a:xfrm>
          <a:prstGeom prst="rect">
            <a:avLst/>
          </a:prstGeom>
          <a:noFill/>
        </p:spPr>
        <p:txBody>
          <a:bodyPr wrap="square" anchor="t" lIns="0" rIns="0" tIns="0" bIns="0">
            <a:spAutoFit/>
          </a:bodyPr>
          <a:lstStyle/>
          <a:p>
            <a:pPr algn="l">
              <a:lnSpc>
                <a:spcPct val="100000"/>
              </a:lnSpc>
            </a:pPr>
            <a:r>
              <a:rPr sz="1350" b="1" i="0">
                <a:solidFill>
                  <a:srgbClr val="1F3B4D"/>
                </a:solidFill>
                <a:latin typeface="Calibri"/>
              </a:rPr>
              <a:t>Learned automatically</a:t>
            </a:r>
          </a:p>
        </p:txBody>
      </p:sp>
      <p:sp>
        <p:nvSpPr>
          <p:cNvPr id="13" name="TextBox 12"/>
          <p:cNvSpPr txBox="1"/>
          <p:nvPr/>
        </p:nvSpPr>
        <p:spPr>
          <a:xfrm>
            <a:off x="914400" y="2871216"/>
            <a:ext cx="4782312" cy="1005840"/>
          </a:xfrm>
          <a:prstGeom prst="rect">
            <a:avLst/>
          </a:prstGeom>
          <a:noFill/>
        </p:spPr>
        <p:txBody>
          <a:bodyPr wrap="square" anchor="t" lIns="0" rIns="0" tIns="0" bIns="0">
            <a:spAutoFit/>
          </a:bodyPr>
          <a:lstStyle/>
          <a:p>
            <a:pPr algn="l">
              <a:lnSpc>
                <a:spcPct val="122000"/>
              </a:lnSpc>
            </a:pPr>
            <a:r>
              <a:rPr sz="1150" b="0" i="0">
                <a:solidFill>
                  <a:srgbClr val="211D18"/>
                </a:solidFill>
                <a:latin typeface="Calibri"/>
              </a:rPr>
              <a:t>Our detection models learn what a helmet, plate, or rider looks like directly from example photos — we don't hand-code any visual rules for that part.</a:t>
            </a:r>
          </a:p>
        </p:txBody>
      </p:sp>
      <p:sp>
        <p:nvSpPr>
          <p:cNvPr id="14" name="Rectangle 13"/>
          <p:cNvSpPr/>
          <p:nvPr/>
        </p:nvSpPr>
        <p:spPr>
          <a:xfrm>
            <a:off x="6245352" y="2286000"/>
            <a:ext cx="5285232" cy="1783080"/>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5352" y="2286000"/>
            <a:ext cx="54864" cy="1783080"/>
          </a:xfrm>
          <a:prstGeom prst="rect">
            <a:avLst/>
          </a:prstGeom>
          <a:solidFill>
            <a:srgbClr val="C25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9672" y="2468880"/>
            <a:ext cx="4782312" cy="365760"/>
          </a:xfrm>
          <a:prstGeom prst="rect">
            <a:avLst/>
          </a:prstGeom>
          <a:noFill/>
        </p:spPr>
        <p:txBody>
          <a:bodyPr wrap="square" anchor="t" lIns="0" rIns="0" tIns="0" bIns="0">
            <a:spAutoFit/>
          </a:bodyPr>
          <a:lstStyle/>
          <a:p>
            <a:pPr algn="l">
              <a:lnSpc>
                <a:spcPct val="100000"/>
              </a:lnSpc>
            </a:pPr>
            <a:r>
              <a:rPr sz="1350" b="1" i="0">
                <a:solidFill>
                  <a:srgbClr val="1F3B4D"/>
                </a:solidFill>
                <a:latin typeface="Calibri"/>
              </a:rPr>
              <a:t>Built for the speed check</a:t>
            </a:r>
          </a:p>
        </p:txBody>
      </p:sp>
      <p:sp>
        <p:nvSpPr>
          <p:cNvPr id="17" name="TextBox 16"/>
          <p:cNvSpPr txBox="1"/>
          <p:nvPr/>
        </p:nvSpPr>
        <p:spPr>
          <a:xfrm>
            <a:off x="6519672" y="2871216"/>
            <a:ext cx="4782312" cy="1005840"/>
          </a:xfrm>
          <a:prstGeom prst="rect">
            <a:avLst/>
          </a:prstGeom>
          <a:noFill/>
        </p:spPr>
        <p:txBody>
          <a:bodyPr wrap="square" anchor="t" lIns="0" rIns="0" tIns="0" bIns="0">
            <a:spAutoFit/>
          </a:bodyPr>
          <a:lstStyle/>
          <a:p>
            <a:pPr algn="l">
              <a:lnSpc>
                <a:spcPct val="122000"/>
              </a:lnSpc>
            </a:pPr>
            <a:r>
              <a:rPr sz="1150" b="0" i="0">
                <a:solidFill>
                  <a:srgbClr val="211D18"/>
                </a:solidFill>
                <a:latin typeface="Calibri"/>
              </a:rPr>
              <a:t>Speed = distance change ÷ time, measured by the ultrasonic sensor on the ESP32 — a simple calculation, not something a model learns.</a:t>
            </a:r>
          </a:p>
        </p:txBody>
      </p:sp>
      <p:sp>
        <p:nvSpPr>
          <p:cNvPr id="18" name="Rectangle 17"/>
          <p:cNvSpPr/>
          <p:nvPr/>
        </p:nvSpPr>
        <p:spPr>
          <a:xfrm>
            <a:off x="640080" y="4343400"/>
            <a:ext cx="5285232" cy="1783080"/>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343400"/>
            <a:ext cx="54864" cy="1783080"/>
          </a:xfrm>
          <a:prstGeom prst="rect">
            <a:avLst/>
          </a:prstGeom>
          <a:solidFill>
            <a:srgbClr val="C25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526280"/>
            <a:ext cx="4782312" cy="365760"/>
          </a:xfrm>
          <a:prstGeom prst="rect">
            <a:avLst/>
          </a:prstGeom>
          <a:noFill/>
        </p:spPr>
        <p:txBody>
          <a:bodyPr wrap="square" anchor="t" lIns="0" rIns="0" tIns="0" bIns="0">
            <a:spAutoFit/>
          </a:bodyPr>
          <a:lstStyle/>
          <a:p>
            <a:pPr algn="l">
              <a:lnSpc>
                <a:spcPct val="100000"/>
              </a:lnSpc>
            </a:pPr>
            <a:r>
              <a:rPr sz="1350" b="1" i="0">
                <a:solidFill>
                  <a:srgbClr val="1F3B4D"/>
                </a:solidFill>
                <a:latin typeface="Calibri"/>
              </a:rPr>
              <a:t>Built for counting riders</a:t>
            </a:r>
          </a:p>
        </p:txBody>
      </p:sp>
      <p:sp>
        <p:nvSpPr>
          <p:cNvPr id="21" name="TextBox 20"/>
          <p:cNvSpPr txBox="1"/>
          <p:nvPr/>
        </p:nvSpPr>
        <p:spPr>
          <a:xfrm>
            <a:off x="914400" y="4928616"/>
            <a:ext cx="4782312" cy="1005840"/>
          </a:xfrm>
          <a:prstGeom prst="rect">
            <a:avLst/>
          </a:prstGeom>
          <a:noFill/>
        </p:spPr>
        <p:txBody>
          <a:bodyPr wrap="square" anchor="t" lIns="0" rIns="0" tIns="0" bIns="0">
            <a:spAutoFit/>
          </a:bodyPr>
          <a:lstStyle/>
          <a:p>
            <a:pPr algn="l">
              <a:lnSpc>
                <a:spcPct val="122000"/>
              </a:lnSpc>
            </a:pPr>
            <a:r>
              <a:rPr sz="1150" b="0" i="0">
                <a:solidFill>
                  <a:srgbClr val="211D18"/>
                </a:solidFill>
                <a:latin typeface="Calibri"/>
              </a:rPr>
              <a:t>We count a person as “on” a bike if their box overlaps the bike's box — a simple rule applied on top of the model's raw detections.</a:t>
            </a:r>
          </a:p>
        </p:txBody>
      </p:sp>
      <p:sp>
        <p:nvSpPr>
          <p:cNvPr id="22" name="Rectangle 21"/>
          <p:cNvSpPr/>
          <p:nvPr/>
        </p:nvSpPr>
        <p:spPr>
          <a:xfrm>
            <a:off x="6245352" y="4343400"/>
            <a:ext cx="5285232" cy="1783080"/>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5352" y="4343400"/>
            <a:ext cx="54864" cy="1783080"/>
          </a:xfrm>
          <a:prstGeom prst="rect">
            <a:avLst/>
          </a:prstGeom>
          <a:solidFill>
            <a:srgbClr val="C25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9672" y="4526280"/>
            <a:ext cx="4782312" cy="365760"/>
          </a:xfrm>
          <a:prstGeom prst="rect">
            <a:avLst/>
          </a:prstGeom>
          <a:noFill/>
        </p:spPr>
        <p:txBody>
          <a:bodyPr wrap="square" anchor="t" lIns="0" rIns="0" tIns="0" bIns="0">
            <a:spAutoFit/>
          </a:bodyPr>
          <a:lstStyle/>
          <a:p>
            <a:pPr algn="l">
              <a:lnSpc>
                <a:spcPct val="100000"/>
              </a:lnSpc>
            </a:pPr>
            <a:r>
              <a:rPr sz="1350" b="1" i="0">
                <a:solidFill>
                  <a:srgbClr val="1F3B4D"/>
                </a:solidFill>
                <a:latin typeface="Calibri"/>
              </a:rPr>
              <a:t>Built for reading plates</a:t>
            </a:r>
          </a:p>
        </p:txBody>
      </p:sp>
      <p:sp>
        <p:nvSpPr>
          <p:cNvPr id="25" name="TextBox 24"/>
          <p:cNvSpPr txBox="1"/>
          <p:nvPr/>
        </p:nvSpPr>
        <p:spPr>
          <a:xfrm>
            <a:off x="6519672" y="4928616"/>
            <a:ext cx="4782312" cy="1005840"/>
          </a:xfrm>
          <a:prstGeom prst="rect">
            <a:avLst/>
          </a:prstGeom>
          <a:noFill/>
        </p:spPr>
        <p:txBody>
          <a:bodyPr wrap="square" anchor="t" lIns="0" rIns="0" tIns="0" bIns="0">
            <a:spAutoFit/>
          </a:bodyPr>
          <a:lstStyle/>
          <a:p>
            <a:pPr algn="l">
              <a:lnSpc>
                <a:spcPct val="122000"/>
              </a:lnSpc>
            </a:pPr>
            <a:r>
              <a:rPr sz="1150" b="0" i="0">
                <a:solidFill>
                  <a:srgbClr val="211D18"/>
                </a:solidFill>
                <a:latin typeface="Calibri"/>
              </a:rPr>
              <a:t>Before reading a plate we sharpen and straighten the image; after reading, we auto-correct common mix-ups like the letter O and the digit 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3B4D"/>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5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286000"/>
            <a:ext cx="2743200" cy="1371600"/>
          </a:xfrm>
          <a:prstGeom prst="rect">
            <a:avLst/>
          </a:prstGeom>
          <a:noFill/>
        </p:spPr>
        <p:txBody>
          <a:bodyPr wrap="square" anchor="t" lIns="0" rIns="0" tIns="0" bIns="0">
            <a:spAutoFit/>
          </a:bodyPr>
          <a:lstStyle/>
          <a:p>
            <a:pPr algn="l">
              <a:lnSpc>
                <a:spcPct val="100000"/>
              </a:lnSpc>
            </a:pPr>
            <a:r>
              <a:rPr sz="10000" b="1" i="0">
                <a:solidFill>
                  <a:srgbClr val="C2542C"/>
                </a:solidFill>
                <a:latin typeface="Calibri"/>
              </a:rPr>
              <a:t>02</a:t>
            </a:r>
          </a:p>
        </p:txBody>
      </p:sp>
      <p:sp>
        <p:nvSpPr>
          <p:cNvPr id="4" name="TextBox 3"/>
          <p:cNvSpPr txBox="1"/>
          <p:nvPr/>
        </p:nvSpPr>
        <p:spPr>
          <a:xfrm>
            <a:off x="896112" y="3703320"/>
            <a:ext cx="10058400" cy="1188720"/>
          </a:xfrm>
          <a:prstGeom prst="rect">
            <a:avLst/>
          </a:prstGeom>
          <a:noFill/>
        </p:spPr>
        <p:txBody>
          <a:bodyPr wrap="square" anchor="t" lIns="0" rIns="0" tIns="0" bIns="0">
            <a:spAutoFit/>
          </a:bodyPr>
          <a:lstStyle/>
          <a:p>
            <a:pPr algn="l">
              <a:lnSpc>
                <a:spcPct val="100000"/>
              </a:lnSpc>
            </a:pPr>
            <a:r>
              <a:rPr sz="3200" b="1" i="0">
                <a:solidFill>
                  <a:srgbClr val="F6F2EA"/>
                </a:solidFill>
                <a:latin typeface="Calibri"/>
              </a:rPr>
              <a:t>Dataset Selection &amp; Preparation</a:t>
            </a:r>
          </a:p>
        </p:txBody>
      </p:sp>
      <p:sp>
        <p:nvSpPr>
          <p:cNvPr id="5" name="TextBox 4"/>
          <p:cNvSpPr txBox="1"/>
          <p:nvPr/>
        </p:nvSpPr>
        <p:spPr>
          <a:xfrm>
            <a:off x="914400" y="4480560"/>
            <a:ext cx="9601200" cy="731520"/>
          </a:xfrm>
          <a:prstGeom prst="rect">
            <a:avLst/>
          </a:prstGeom>
          <a:noFill/>
        </p:spPr>
        <p:txBody>
          <a:bodyPr wrap="square" anchor="t" lIns="0" rIns="0" tIns="0" bIns="0">
            <a:spAutoFit/>
          </a:bodyPr>
          <a:lstStyle/>
          <a:p>
            <a:pPr algn="l">
              <a:lnSpc>
                <a:spcPct val="100000"/>
              </a:lnSpc>
            </a:pPr>
            <a:r>
              <a:rPr sz="1400" b="0" i="1">
                <a:solidFill>
                  <a:srgbClr val="C9C0AE"/>
                </a:solidFill>
                <a:latin typeface="Calibri"/>
              </a:rPr>
              <a:t>How we chose, cleaned, and combined public datasets before training anything.</a:t>
            </a:r>
          </a:p>
        </p:txBody>
      </p:sp>
      <p:sp>
        <p:nvSpPr>
          <p:cNvPr id="6" name="TextBox 5"/>
          <p:cNvSpPr txBox="1"/>
          <p:nvPr/>
        </p:nvSpPr>
        <p:spPr>
          <a:xfrm>
            <a:off x="868680" y="6263640"/>
            <a:ext cx="3657600" cy="274320"/>
          </a:xfrm>
          <a:prstGeom prst="rect">
            <a:avLst/>
          </a:prstGeom>
          <a:noFill/>
        </p:spPr>
        <p:txBody>
          <a:bodyPr wrap="square" anchor="t" lIns="0" rIns="0" tIns="0" bIns="0">
            <a:spAutoFit/>
          </a:bodyPr>
          <a:lstStyle/>
          <a:p>
            <a:pPr algn="l">
              <a:lnSpc>
                <a:spcPct val="100000"/>
              </a:lnSpc>
            </a:pPr>
            <a:r>
              <a:rPr sz="1100" b="0" i="0">
                <a:solidFill>
                  <a:srgbClr val="A89E8C"/>
                </a:solidFill>
                <a:latin typeface="Calibri"/>
              </a:rPr>
              <a:t>9/17/2026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DATASET SELECTION &amp; PREPARATION</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700" b="1" i="0">
                <a:solidFill>
                  <a:srgbClr val="211D18"/>
                </a:solidFill>
                <a:latin typeface="Calibri"/>
              </a:rPr>
              <a:t>WHY THESE DATASETS</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02</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TextBox 8"/>
          <p:cNvSpPr txBox="1"/>
          <p:nvPr/>
        </p:nvSpPr>
        <p:spPr>
          <a:xfrm>
            <a:off x="640080" y="1600200"/>
            <a:ext cx="10881360" cy="457200"/>
          </a:xfrm>
          <a:prstGeom prst="rect">
            <a:avLst/>
          </a:prstGeom>
          <a:noFill/>
        </p:spPr>
        <p:txBody>
          <a:bodyPr wrap="square" anchor="t" lIns="0" rIns="0" tIns="0" bIns="0">
            <a:spAutoFit/>
          </a:bodyPr>
          <a:lstStyle/>
          <a:p>
            <a:pPr algn="l">
              <a:lnSpc>
                <a:spcPct val="100000"/>
              </a:lnSpc>
            </a:pPr>
            <a:r>
              <a:rPr sz="1300" b="0" i="1">
                <a:solidFill>
                  <a:srgbClr val="6E655A"/>
                </a:solidFill>
                <a:latin typeface="Calibri"/>
              </a:rPr>
              <a:t>We looked at four public datasets — checking their labels, their data quality, and how well they matched our real-world use case, not just how many photos they had.</a:t>
            </a:r>
          </a:p>
        </p:txBody>
      </p:sp>
      <p:sp>
        <p:nvSpPr>
          <p:cNvPr id="10" name="Rectangle 9"/>
          <p:cNvSpPr/>
          <p:nvPr/>
        </p:nvSpPr>
        <p:spPr>
          <a:xfrm>
            <a:off x="640080" y="2286000"/>
            <a:ext cx="2606040" cy="3611880"/>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487168"/>
            <a:ext cx="2203704" cy="685800"/>
          </a:xfrm>
          <a:prstGeom prst="rect">
            <a:avLst/>
          </a:prstGeom>
          <a:noFill/>
        </p:spPr>
        <p:txBody>
          <a:bodyPr wrap="square" anchor="t" lIns="0" rIns="0" tIns="0" bIns="0">
            <a:spAutoFit/>
          </a:bodyPr>
          <a:lstStyle/>
          <a:p>
            <a:pPr algn="l">
              <a:lnSpc>
                <a:spcPct val="115000"/>
              </a:lnSpc>
            </a:pPr>
            <a:r>
              <a:rPr sz="1300" b="1" i="0">
                <a:solidFill>
                  <a:srgbClr val="211D18"/>
                </a:solidFill>
                <a:latin typeface="Calibri"/>
              </a:rPr>
              <a:t>Helmet + Number-Plate (v3)</a:t>
            </a:r>
          </a:p>
        </p:txBody>
      </p:sp>
      <p:cxnSp>
        <p:nvCxnSpPr>
          <p:cNvPr id="12" name="Connector 11"/>
          <p:cNvCxnSpPr/>
          <p:nvPr/>
        </p:nvCxnSpPr>
        <p:spPr>
          <a:xfrm>
            <a:off x="841248" y="3246120"/>
            <a:ext cx="2203704" cy="0"/>
          </a:xfrm>
          <a:prstGeom prst="line">
            <a:avLst/>
          </a:prstGeom>
          <a:ln w="9525">
            <a:solidFill>
              <a:srgbClr val="D7CDB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41248" y="3383280"/>
            <a:ext cx="2203704" cy="274320"/>
          </a:xfrm>
          <a:prstGeom prst="rect">
            <a:avLst/>
          </a:prstGeom>
          <a:noFill/>
        </p:spPr>
        <p:txBody>
          <a:bodyPr wrap="square" anchor="t" lIns="0" rIns="0" tIns="0" bIns="0">
            <a:spAutoFit/>
          </a:bodyPr>
          <a:lstStyle/>
          <a:p>
            <a:pPr algn="l">
              <a:lnSpc>
                <a:spcPct val="100000"/>
              </a:lnSpc>
            </a:pPr>
            <a:r>
              <a:rPr sz="950" b="1" i="0">
                <a:solidFill>
                  <a:srgbClr val="6E655A"/>
                </a:solidFill>
                <a:latin typeface="Calibri"/>
              </a:rPr>
              <a:t>IMAGES</a:t>
            </a:r>
          </a:p>
        </p:txBody>
      </p:sp>
      <p:sp>
        <p:nvSpPr>
          <p:cNvPr id="14" name="TextBox 13"/>
          <p:cNvSpPr txBox="1"/>
          <p:nvPr/>
        </p:nvSpPr>
        <p:spPr>
          <a:xfrm>
            <a:off x="841248" y="3611880"/>
            <a:ext cx="2203704" cy="365760"/>
          </a:xfrm>
          <a:prstGeom prst="rect">
            <a:avLst/>
          </a:prstGeom>
          <a:noFill/>
        </p:spPr>
        <p:txBody>
          <a:bodyPr wrap="square" anchor="t" lIns="0" rIns="0" tIns="0" bIns="0">
            <a:spAutoFit/>
          </a:bodyPr>
          <a:lstStyle/>
          <a:p>
            <a:pPr algn="l">
              <a:lnSpc>
                <a:spcPct val="100000"/>
              </a:lnSpc>
            </a:pPr>
            <a:r>
              <a:rPr sz="1800" b="1" i="0">
                <a:solidFill>
                  <a:srgbClr val="1F3B4D"/>
                </a:solidFill>
                <a:latin typeface="Calibri"/>
              </a:rPr>
              <a:t>20,287</a:t>
            </a:r>
          </a:p>
        </p:txBody>
      </p:sp>
      <p:sp>
        <p:nvSpPr>
          <p:cNvPr id="15" name="TextBox 14"/>
          <p:cNvSpPr txBox="1"/>
          <p:nvPr/>
        </p:nvSpPr>
        <p:spPr>
          <a:xfrm>
            <a:off x="841248" y="4114800"/>
            <a:ext cx="2203704" cy="274320"/>
          </a:xfrm>
          <a:prstGeom prst="rect">
            <a:avLst/>
          </a:prstGeom>
          <a:noFill/>
        </p:spPr>
        <p:txBody>
          <a:bodyPr wrap="square" anchor="t" lIns="0" rIns="0" tIns="0" bIns="0">
            <a:spAutoFit/>
          </a:bodyPr>
          <a:lstStyle/>
          <a:p>
            <a:pPr algn="l">
              <a:lnSpc>
                <a:spcPct val="100000"/>
              </a:lnSpc>
            </a:pPr>
            <a:r>
              <a:rPr sz="950" b="1" i="0">
                <a:solidFill>
                  <a:srgbClr val="6E655A"/>
                </a:solidFill>
                <a:latin typeface="Calibri"/>
              </a:rPr>
              <a:t>CLASSES</a:t>
            </a:r>
          </a:p>
        </p:txBody>
      </p:sp>
      <p:sp>
        <p:nvSpPr>
          <p:cNvPr id="16" name="TextBox 15"/>
          <p:cNvSpPr txBox="1"/>
          <p:nvPr/>
        </p:nvSpPr>
        <p:spPr>
          <a:xfrm>
            <a:off x="841248" y="4343400"/>
            <a:ext cx="2203704" cy="685800"/>
          </a:xfrm>
          <a:prstGeom prst="rect">
            <a:avLst/>
          </a:prstGeom>
          <a:noFill/>
        </p:spPr>
        <p:txBody>
          <a:bodyPr wrap="square" anchor="t" lIns="0" rIns="0" tIns="0" bIns="0">
            <a:spAutoFit/>
          </a:bodyPr>
          <a:lstStyle/>
          <a:p>
            <a:pPr algn="l">
              <a:lnSpc>
                <a:spcPct val="120000"/>
              </a:lnSpc>
            </a:pPr>
            <a:r>
              <a:rPr sz="1080" b="0" i="0">
                <a:solidFill>
                  <a:srgbClr val="211D18"/>
                </a:solidFill>
                <a:latin typeface="Calibri"/>
              </a:rPr>
              <a:t>bike, helmet, no-helmet, number-plate</a:t>
            </a:r>
          </a:p>
        </p:txBody>
      </p:sp>
      <p:sp>
        <p:nvSpPr>
          <p:cNvPr id="17" name="Rectangle 16"/>
          <p:cNvSpPr/>
          <p:nvPr/>
        </p:nvSpPr>
        <p:spPr>
          <a:xfrm>
            <a:off x="640080" y="4937760"/>
            <a:ext cx="2606040" cy="960120"/>
          </a:xfrm>
          <a:prstGeom prst="rect">
            <a:avLst/>
          </a:prstGeom>
          <a:solidFill>
            <a:srgbClr val="E3D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5047488"/>
            <a:ext cx="2203704" cy="274320"/>
          </a:xfrm>
          <a:prstGeom prst="rect">
            <a:avLst/>
          </a:prstGeom>
          <a:noFill/>
        </p:spPr>
        <p:txBody>
          <a:bodyPr wrap="square" anchor="t" lIns="0" rIns="0" tIns="0" bIns="0">
            <a:spAutoFit/>
          </a:bodyPr>
          <a:lstStyle/>
          <a:p>
            <a:pPr algn="l">
              <a:lnSpc>
                <a:spcPct val="100000"/>
              </a:lnSpc>
            </a:pPr>
            <a:r>
              <a:rPr sz="950" b="1" i="0">
                <a:solidFill>
                  <a:srgbClr val="4B7048"/>
                </a:solidFill>
                <a:latin typeface="Calibri"/>
              </a:rPr>
              <a:t>VERDICT</a:t>
            </a:r>
          </a:p>
        </p:txBody>
      </p:sp>
      <p:sp>
        <p:nvSpPr>
          <p:cNvPr id="19" name="TextBox 18"/>
          <p:cNvSpPr txBox="1"/>
          <p:nvPr/>
        </p:nvSpPr>
        <p:spPr>
          <a:xfrm>
            <a:off x="841248" y="5303520"/>
            <a:ext cx="2203704" cy="594360"/>
          </a:xfrm>
          <a:prstGeom prst="rect">
            <a:avLst/>
          </a:prstGeom>
          <a:noFill/>
        </p:spPr>
        <p:txBody>
          <a:bodyPr wrap="square" anchor="t" lIns="0" rIns="0" tIns="0" bIns="0">
            <a:spAutoFit/>
          </a:bodyPr>
          <a:lstStyle/>
          <a:p>
            <a:pPr algn="l">
              <a:lnSpc>
                <a:spcPct val="118000"/>
              </a:lnSpc>
            </a:pPr>
            <a:r>
              <a:rPr sz="1030" b="0" i="0">
                <a:solidFill>
                  <a:srgbClr val="211D18"/>
                </a:solidFill>
                <a:latin typeface="Calibri"/>
              </a:rPr>
              <a:t>Kept — exact class granularity the project needs</a:t>
            </a:r>
          </a:p>
        </p:txBody>
      </p:sp>
      <p:sp>
        <p:nvSpPr>
          <p:cNvPr id="20" name="Rectangle 19"/>
          <p:cNvSpPr/>
          <p:nvPr/>
        </p:nvSpPr>
        <p:spPr>
          <a:xfrm>
            <a:off x="3465576" y="2286000"/>
            <a:ext cx="2606040" cy="3611880"/>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6744" y="2487168"/>
            <a:ext cx="2203704" cy="685800"/>
          </a:xfrm>
          <a:prstGeom prst="rect">
            <a:avLst/>
          </a:prstGeom>
          <a:noFill/>
        </p:spPr>
        <p:txBody>
          <a:bodyPr wrap="square" anchor="t" lIns="0" rIns="0" tIns="0" bIns="0">
            <a:spAutoFit/>
          </a:bodyPr>
          <a:lstStyle/>
          <a:p>
            <a:pPr algn="l">
              <a:lnSpc>
                <a:spcPct val="115000"/>
              </a:lnSpc>
            </a:pPr>
            <a:r>
              <a:rPr sz="1300" b="1" i="0">
                <a:solidFill>
                  <a:srgbClr val="211D18"/>
                </a:solidFill>
                <a:latin typeface="Calibri"/>
              </a:rPr>
              <a:t>Triple-Riding (v3)</a:t>
            </a:r>
          </a:p>
        </p:txBody>
      </p:sp>
      <p:cxnSp>
        <p:nvCxnSpPr>
          <p:cNvPr id="22" name="Connector 21"/>
          <p:cNvCxnSpPr/>
          <p:nvPr/>
        </p:nvCxnSpPr>
        <p:spPr>
          <a:xfrm>
            <a:off x="3666744" y="3246120"/>
            <a:ext cx="2203704" cy="0"/>
          </a:xfrm>
          <a:prstGeom prst="line">
            <a:avLst/>
          </a:prstGeom>
          <a:ln w="9525">
            <a:solidFill>
              <a:srgbClr val="D7CDB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66744" y="3383280"/>
            <a:ext cx="2203704" cy="274320"/>
          </a:xfrm>
          <a:prstGeom prst="rect">
            <a:avLst/>
          </a:prstGeom>
          <a:noFill/>
        </p:spPr>
        <p:txBody>
          <a:bodyPr wrap="square" anchor="t" lIns="0" rIns="0" tIns="0" bIns="0">
            <a:spAutoFit/>
          </a:bodyPr>
          <a:lstStyle/>
          <a:p>
            <a:pPr algn="l">
              <a:lnSpc>
                <a:spcPct val="100000"/>
              </a:lnSpc>
            </a:pPr>
            <a:r>
              <a:rPr sz="950" b="1" i="0">
                <a:solidFill>
                  <a:srgbClr val="6E655A"/>
                </a:solidFill>
                <a:latin typeface="Calibri"/>
              </a:rPr>
              <a:t>IMAGES</a:t>
            </a:r>
          </a:p>
        </p:txBody>
      </p:sp>
      <p:sp>
        <p:nvSpPr>
          <p:cNvPr id="24" name="TextBox 23"/>
          <p:cNvSpPr txBox="1"/>
          <p:nvPr/>
        </p:nvSpPr>
        <p:spPr>
          <a:xfrm>
            <a:off x="3666744" y="3611880"/>
            <a:ext cx="2203704" cy="365760"/>
          </a:xfrm>
          <a:prstGeom prst="rect">
            <a:avLst/>
          </a:prstGeom>
          <a:noFill/>
        </p:spPr>
        <p:txBody>
          <a:bodyPr wrap="square" anchor="t" lIns="0" rIns="0" tIns="0" bIns="0">
            <a:spAutoFit/>
          </a:bodyPr>
          <a:lstStyle/>
          <a:p>
            <a:pPr algn="l">
              <a:lnSpc>
                <a:spcPct val="100000"/>
              </a:lnSpc>
            </a:pPr>
            <a:r>
              <a:rPr sz="1800" b="1" i="0">
                <a:solidFill>
                  <a:srgbClr val="1F3B4D"/>
                </a:solidFill>
                <a:latin typeface="Calibri"/>
              </a:rPr>
              <a:t>3,177</a:t>
            </a:r>
          </a:p>
        </p:txBody>
      </p:sp>
      <p:sp>
        <p:nvSpPr>
          <p:cNvPr id="25" name="TextBox 24"/>
          <p:cNvSpPr txBox="1"/>
          <p:nvPr/>
        </p:nvSpPr>
        <p:spPr>
          <a:xfrm>
            <a:off x="3666744" y="4114800"/>
            <a:ext cx="2203704" cy="274320"/>
          </a:xfrm>
          <a:prstGeom prst="rect">
            <a:avLst/>
          </a:prstGeom>
          <a:noFill/>
        </p:spPr>
        <p:txBody>
          <a:bodyPr wrap="square" anchor="t" lIns="0" rIns="0" tIns="0" bIns="0">
            <a:spAutoFit/>
          </a:bodyPr>
          <a:lstStyle/>
          <a:p>
            <a:pPr algn="l">
              <a:lnSpc>
                <a:spcPct val="100000"/>
              </a:lnSpc>
            </a:pPr>
            <a:r>
              <a:rPr sz="950" b="1" i="0">
                <a:solidFill>
                  <a:srgbClr val="6E655A"/>
                </a:solidFill>
                <a:latin typeface="Calibri"/>
              </a:rPr>
              <a:t>CLASSES</a:t>
            </a:r>
          </a:p>
        </p:txBody>
      </p:sp>
      <p:sp>
        <p:nvSpPr>
          <p:cNvPr id="26" name="TextBox 25"/>
          <p:cNvSpPr txBox="1"/>
          <p:nvPr/>
        </p:nvSpPr>
        <p:spPr>
          <a:xfrm>
            <a:off x="3666744" y="4343400"/>
            <a:ext cx="2203704" cy="685800"/>
          </a:xfrm>
          <a:prstGeom prst="rect">
            <a:avLst/>
          </a:prstGeom>
          <a:noFill/>
        </p:spPr>
        <p:txBody>
          <a:bodyPr wrap="square" anchor="t" lIns="0" rIns="0" tIns="0" bIns="0">
            <a:spAutoFit/>
          </a:bodyPr>
          <a:lstStyle/>
          <a:p>
            <a:pPr algn="l">
              <a:lnSpc>
                <a:spcPct val="120000"/>
              </a:lnSpc>
            </a:pPr>
            <a:r>
              <a:rPr sz="1080" b="0" i="0">
                <a:solidFill>
                  <a:srgbClr val="211D18"/>
                </a:solidFill>
                <a:latin typeface="Calibri"/>
              </a:rPr>
              <a:t>tripleriding (single class)</a:t>
            </a:r>
          </a:p>
        </p:txBody>
      </p:sp>
      <p:sp>
        <p:nvSpPr>
          <p:cNvPr id="27" name="Rectangle 26"/>
          <p:cNvSpPr/>
          <p:nvPr/>
        </p:nvSpPr>
        <p:spPr>
          <a:xfrm>
            <a:off x="3465576" y="4937760"/>
            <a:ext cx="2606040" cy="960120"/>
          </a:xfrm>
          <a:prstGeom prst="rect">
            <a:avLst/>
          </a:prstGeom>
          <a:solidFill>
            <a:srgbClr val="E3D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66744" y="5047488"/>
            <a:ext cx="2203704" cy="274320"/>
          </a:xfrm>
          <a:prstGeom prst="rect">
            <a:avLst/>
          </a:prstGeom>
          <a:noFill/>
        </p:spPr>
        <p:txBody>
          <a:bodyPr wrap="square" anchor="t" lIns="0" rIns="0" tIns="0" bIns="0">
            <a:spAutoFit/>
          </a:bodyPr>
          <a:lstStyle/>
          <a:p>
            <a:pPr algn="l">
              <a:lnSpc>
                <a:spcPct val="100000"/>
              </a:lnSpc>
            </a:pPr>
            <a:r>
              <a:rPr sz="950" b="1" i="0">
                <a:solidFill>
                  <a:srgbClr val="4B7048"/>
                </a:solidFill>
                <a:latin typeface="Calibri"/>
              </a:rPr>
              <a:t>VERDICT</a:t>
            </a:r>
          </a:p>
        </p:txBody>
      </p:sp>
      <p:sp>
        <p:nvSpPr>
          <p:cNvPr id="29" name="TextBox 28"/>
          <p:cNvSpPr txBox="1"/>
          <p:nvPr/>
        </p:nvSpPr>
        <p:spPr>
          <a:xfrm>
            <a:off x="3666744" y="5303520"/>
            <a:ext cx="2203704" cy="594360"/>
          </a:xfrm>
          <a:prstGeom prst="rect">
            <a:avLst/>
          </a:prstGeom>
          <a:noFill/>
        </p:spPr>
        <p:txBody>
          <a:bodyPr wrap="square" anchor="t" lIns="0" rIns="0" tIns="0" bIns="0">
            <a:spAutoFit/>
          </a:bodyPr>
          <a:lstStyle/>
          <a:p>
            <a:pPr algn="l">
              <a:lnSpc>
                <a:spcPct val="118000"/>
              </a:lnSpc>
            </a:pPr>
            <a:r>
              <a:rPr sz="1030" b="0" i="0">
                <a:solidFill>
                  <a:srgbClr val="211D18"/>
                </a:solidFill>
                <a:latin typeface="Calibri"/>
              </a:rPr>
              <a:t>Kept — only source with a dedicated occupancy class</a:t>
            </a:r>
          </a:p>
        </p:txBody>
      </p:sp>
      <p:sp>
        <p:nvSpPr>
          <p:cNvPr id="30" name="Rectangle 29"/>
          <p:cNvSpPr/>
          <p:nvPr/>
        </p:nvSpPr>
        <p:spPr>
          <a:xfrm>
            <a:off x="6291072" y="2286000"/>
            <a:ext cx="2606040" cy="3611880"/>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2487168"/>
            <a:ext cx="2203704" cy="685800"/>
          </a:xfrm>
          <a:prstGeom prst="rect">
            <a:avLst/>
          </a:prstGeom>
          <a:noFill/>
        </p:spPr>
        <p:txBody>
          <a:bodyPr wrap="square" anchor="t" lIns="0" rIns="0" tIns="0" bIns="0">
            <a:spAutoFit/>
          </a:bodyPr>
          <a:lstStyle/>
          <a:p>
            <a:pPr algn="l">
              <a:lnSpc>
                <a:spcPct val="115000"/>
              </a:lnSpc>
            </a:pPr>
            <a:r>
              <a:rPr sz="1300" b="1" i="0">
                <a:solidFill>
                  <a:srgbClr val="211D18"/>
                </a:solidFill>
                <a:latin typeface="Calibri"/>
              </a:rPr>
              <a:t>Helmet + Triple-Riding “Violation” (v3)</a:t>
            </a:r>
          </a:p>
        </p:txBody>
      </p:sp>
      <p:cxnSp>
        <p:nvCxnSpPr>
          <p:cNvPr id="32" name="Connector 31"/>
          <p:cNvCxnSpPr/>
          <p:nvPr/>
        </p:nvCxnSpPr>
        <p:spPr>
          <a:xfrm>
            <a:off x="6492240" y="3246120"/>
            <a:ext cx="2203704" cy="0"/>
          </a:xfrm>
          <a:prstGeom prst="line">
            <a:avLst/>
          </a:prstGeom>
          <a:ln w="9525">
            <a:solidFill>
              <a:srgbClr val="D7CDB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92240" y="3383280"/>
            <a:ext cx="2203704" cy="274320"/>
          </a:xfrm>
          <a:prstGeom prst="rect">
            <a:avLst/>
          </a:prstGeom>
          <a:noFill/>
        </p:spPr>
        <p:txBody>
          <a:bodyPr wrap="square" anchor="t" lIns="0" rIns="0" tIns="0" bIns="0">
            <a:spAutoFit/>
          </a:bodyPr>
          <a:lstStyle/>
          <a:p>
            <a:pPr algn="l">
              <a:lnSpc>
                <a:spcPct val="100000"/>
              </a:lnSpc>
            </a:pPr>
            <a:r>
              <a:rPr sz="950" b="1" i="0">
                <a:solidFill>
                  <a:srgbClr val="6E655A"/>
                </a:solidFill>
                <a:latin typeface="Calibri"/>
              </a:rPr>
              <a:t>IMAGES</a:t>
            </a:r>
          </a:p>
        </p:txBody>
      </p:sp>
      <p:sp>
        <p:nvSpPr>
          <p:cNvPr id="34" name="TextBox 33"/>
          <p:cNvSpPr txBox="1"/>
          <p:nvPr/>
        </p:nvSpPr>
        <p:spPr>
          <a:xfrm>
            <a:off x="6492240" y="3611880"/>
            <a:ext cx="2203704" cy="365760"/>
          </a:xfrm>
          <a:prstGeom prst="rect">
            <a:avLst/>
          </a:prstGeom>
          <a:noFill/>
        </p:spPr>
        <p:txBody>
          <a:bodyPr wrap="square" anchor="t" lIns="0" rIns="0" tIns="0" bIns="0">
            <a:spAutoFit/>
          </a:bodyPr>
          <a:lstStyle/>
          <a:p>
            <a:pPr algn="l">
              <a:lnSpc>
                <a:spcPct val="100000"/>
              </a:lnSpc>
            </a:pPr>
            <a:r>
              <a:rPr sz="1800" b="1" i="0">
                <a:solidFill>
                  <a:srgbClr val="1F3B4D"/>
                </a:solidFill>
                <a:latin typeface="Calibri"/>
              </a:rPr>
              <a:t>27,010</a:t>
            </a:r>
          </a:p>
        </p:txBody>
      </p:sp>
      <p:sp>
        <p:nvSpPr>
          <p:cNvPr id="35" name="TextBox 34"/>
          <p:cNvSpPr txBox="1"/>
          <p:nvPr/>
        </p:nvSpPr>
        <p:spPr>
          <a:xfrm>
            <a:off x="6492240" y="4114800"/>
            <a:ext cx="2203704" cy="274320"/>
          </a:xfrm>
          <a:prstGeom prst="rect">
            <a:avLst/>
          </a:prstGeom>
          <a:noFill/>
        </p:spPr>
        <p:txBody>
          <a:bodyPr wrap="square" anchor="t" lIns="0" rIns="0" tIns="0" bIns="0">
            <a:spAutoFit/>
          </a:bodyPr>
          <a:lstStyle/>
          <a:p>
            <a:pPr algn="l">
              <a:lnSpc>
                <a:spcPct val="100000"/>
              </a:lnSpc>
            </a:pPr>
            <a:r>
              <a:rPr sz="950" b="1" i="0">
                <a:solidFill>
                  <a:srgbClr val="6E655A"/>
                </a:solidFill>
                <a:latin typeface="Calibri"/>
              </a:rPr>
              <a:t>CLASSES</a:t>
            </a:r>
          </a:p>
        </p:txBody>
      </p:sp>
      <p:sp>
        <p:nvSpPr>
          <p:cNvPr id="36" name="TextBox 35"/>
          <p:cNvSpPr txBox="1"/>
          <p:nvPr/>
        </p:nvSpPr>
        <p:spPr>
          <a:xfrm>
            <a:off x="6492240" y="4343400"/>
            <a:ext cx="2203704" cy="685800"/>
          </a:xfrm>
          <a:prstGeom prst="rect">
            <a:avLst/>
          </a:prstGeom>
          <a:noFill/>
        </p:spPr>
        <p:txBody>
          <a:bodyPr wrap="square" anchor="t" lIns="0" rIns="0" tIns="0" bIns="0">
            <a:spAutoFit/>
          </a:bodyPr>
          <a:lstStyle/>
          <a:p>
            <a:pPr algn="l">
              <a:lnSpc>
                <a:spcPct val="120000"/>
              </a:lnSpc>
            </a:pPr>
            <a:r>
              <a:rPr sz="1080" b="0" i="0">
                <a:solidFill>
                  <a:srgbClr val="211D18"/>
                </a:solidFill>
                <a:latin typeface="Calibri"/>
              </a:rPr>
              <a:t>Violation / No-Violation (binary)</a:t>
            </a:r>
          </a:p>
        </p:txBody>
      </p:sp>
      <p:sp>
        <p:nvSpPr>
          <p:cNvPr id="37" name="Rectangle 36"/>
          <p:cNvSpPr/>
          <p:nvPr/>
        </p:nvSpPr>
        <p:spPr>
          <a:xfrm>
            <a:off x="6291072" y="4937760"/>
            <a:ext cx="2606040" cy="960120"/>
          </a:xfrm>
          <a:prstGeom prst="rect">
            <a:avLst/>
          </a:prstGeom>
          <a:solidFill>
            <a:srgbClr val="E3D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0" y="5047488"/>
            <a:ext cx="2203704" cy="274320"/>
          </a:xfrm>
          <a:prstGeom prst="rect">
            <a:avLst/>
          </a:prstGeom>
          <a:noFill/>
        </p:spPr>
        <p:txBody>
          <a:bodyPr wrap="square" anchor="t" lIns="0" rIns="0" tIns="0" bIns="0">
            <a:spAutoFit/>
          </a:bodyPr>
          <a:lstStyle/>
          <a:p>
            <a:pPr algn="l">
              <a:lnSpc>
                <a:spcPct val="100000"/>
              </a:lnSpc>
            </a:pPr>
            <a:r>
              <a:rPr sz="950" b="1" i="0">
                <a:solidFill>
                  <a:srgbClr val="C2542C"/>
                </a:solidFill>
                <a:latin typeface="Calibri"/>
              </a:rPr>
              <a:t>VERDICT</a:t>
            </a:r>
          </a:p>
        </p:txBody>
      </p:sp>
      <p:sp>
        <p:nvSpPr>
          <p:cNvPr id="39" name="TextBox 38"/>
          <p:cNvSpPr txBox="1"/>
          <p:nvPr/>
        </p:nvSpPr>
        <p:spPr>
          <a:xfrm>
            <a:off x="6492240" y="5303520"/>
            <a:ext cx="2203704" cy="594360"/>
          </a:xfrm>
          <a:prstGeom prst="rect">
            <a:avLst/>
          </a:prstGeom>
          <a:noFill/>
        </p:spPr>
        <p:txBody>
          <a:bodyPr wrap="square" anchor="t" lIns="0" rIns="0" tIns="0" bIns="0">
            <a:spAutoFit/>
          </a:bodyPr>
          <a:lstStyle/>
          <a:p>
            <a:pPr algn="l">
              <a:lnSpc>
                <a:spcPct val="118000"/>
              </a:lnSpc>
            </a:pPr>
            <a:r>
              <a:rPr sz="1030" b="0" i="0">
                <a:solidFill>
                  <a:srgbClr val="211D18"/>
                </a:solidFill>
                <a:latin typeface="Calibri"/>
              </a:rPr>
              <a:t>Repurposed as negatives only — can't supply a violation type</a:t>
            </a:r>
          </a:p>
        </p:txBody>
      </p:sp>
      <p:sp>
        <p:nvSpPr>
          <p:cNvPr id="40" name="Rectangle 39"/>
          <p:cNvSpPr/>
          <p:nvPr/>
        </p:nvSpPr>
        <p:spPr>
          <a:xfrm>
            <a:off x="9116568" y="2286000"/>
            <a:ext cx="2606040" cy="3611880"/>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17736" y="2487168"/>
            <a:ext cx="2203704" cy="685800"/>
          </a:xfrm>
          <a:prstGeom prst="rect">
            <a:avLst/>
          </a:prstGeom>
          <a:noFill/>
        </p:spPr>
        <p:txBody>
          <a:bodyPr wrap="square" anchor="t" lIns="0" rIns="0" tIns="0" bIns="0">
            <a:spAutoFit/>
          </a:bodyPr>
          <a:lstStyle/>
          <a:p>
            <a:pPr algn="l">
              <a:lnSpc>
                <a:spcPct val="115000"/>
              </a:lnSpc>
            </a:pPr>
            <a:r>
              <a:rPr sz="1300" b="1" i="0">
                <a:solidFill>
                  <a:srgbClr val="211D18"/>
                </a:solidFill>
                <a:latin typeface="Calibri"/>
              </a:rPr>
              <a:t>Nepali Number Plate (v3)</a:t>
            </a:r>
          </a:p>
        </p:txBody>
      </p:sp>
      <p:cxnSp>
        <p:nvCxnSpPr>
          <p:cNvPr id="42" name="Connector 41"/>
          <p:cNvCxnSpPr/>
          <p:nvPr/>
        </p:nvCxnSpPr>
        <p:spPr>
          <a:xfrm>
            <a:off x="9317736" y="3246120"/>
            <a:ext cx="2203704" cy="0"/>
          </a:xfrm>
          <a:prstGeom prst="line">
            <a:avLst/>
          </a:prstGeom>
          <a:ln w="9525">
            <a:solidFill>
              <a:srgbClr val="D7CDB8"/>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317736" y="3383280"/>
            <a:ext cx="2203704" cy="274320"/>
          </a:xfrm>
          <a:prstGeom prst="rect">
            <a:avLst/>
          </a:prstGeom>
          <a:noFill/>
        </p:spPr>
        <p:txBody>
          <a:bodyPr wrap="square" anchor="t" lIns="0" rIns="0" tIns="0" bIns="0">
            <a:spAutoFit/>
          </a:bodyPr>
          <a:lstStyle/>
          <a:p>
            <a:pPr algn="l">
              <a:lnSpc>
                <a:spcPct val="100000"/>
              </a:lnSpc>
            </a:pPr>
            <a:r>
              <a:rPr sz="950" b="1" i="0">
                <a:solidFill>
                  <a:srgbClr val="6E655A"/>
                </a:solidFill>
                <a:latin typeface="Calibri"/>
              </a:rPr>
              <a:t>IMAGES</a:t>
            </a:r>
          </a:p>
        </p:txBody>
      </p:sp>
      <p:sp>
        <p:nvSpPr>
          <p:cNvPr id="44" name="TextBox 43"/>
          <p:cNvSpPr txBox="1"/>
          <p:nvPr/>
        </p:nvSpPr>
        <p:spPr>
          <a:xfrm>
            <a:off x="9317736" y="3611880"/>
            <a:ext cx="2203704" cy="365760"/>
          </a:xfrm>
          <a:prstGeom prst="rect">
            <a:avLst/>
          </a:prstGeom>
          <a:noFill/>
        </p:spPr>
        <p:txBody>
          <a:bodyPr wrap="square" anchor="t" lIns="0" rIns="0" tIns="0" bIns="0">
            <a:spAutoFit/>
          </a:bodyPr>
          <a:lstStyle/>
          <a:p>
            <a:pPr algn="l">
              <a:lnSpc>
                <a:spcPct val="100000"/>
              </a:lnSpc>
            </a:pPr>
            <a:r>
              <a:rPr sz="1800" b="1" i="0">
                <a:solidFill>
                  <a:srgbClr val="1F3B4D"/>
                </a:solidFill>
                <a:latin typeface="Calibri"/>
              </a:rPr>
              <a:t>11,137</a:t>
            </a:r>
          </a:p>
        </p:txBody>
      </p:sp>
      <p:sp>
        <p:nvSpPr>
          <p:cNvPr id="45" name="TextBox 44"/>
          <p:cNvSpPr txBox="1"/>
          <p:nvPr/>
        </p:nvSpPr>
        <p:spPr>
          <a:xfrm>
            <a:off x="9317736" y="4114800"/>
            <a:ext cx="2203704" cy="274320"/>
          </a:xfrm>
          <a:prstGeom prst="rect">
            <a:avLst/>
          </a:prstGeom>
          <a:noFill/>
        </p:spPr>
        <p:txBody>
          <a:bodyPr wrap="square" anchor="t" lIns="0" rIns="0" tIns="0" bIns="0">
            <a:spAutoFit/>
          </a:bodyPr>
          <a:lstStyle/>
          <a:p>
            <a:pPr algn="l">
              <a:lnSpc>
                <a:spcPct val="100000"/>
              </a:lnSpc>
            </a:pPr>
            <a:r>
              <a:rPr sz="950" b="1" i="0">
                <a:solidFill>
                  <a:srgbClr val="6E655A"/>
                </a:solidFill>
                <a:latin typeface="Calibri"/>
              </a:rPr>
              <a:t>CLASSES</a:t>
            </a:r>
          </a:p>
        </p:txBody>
      </p:sp>
      <p:sp>
        <p:nvSpPr>
          <p:cNvPr id="46" name="TextBox 45"/>
          <p:cNvSpPr txBox="1"/>
          <p:nvPr/>
        </p:nvSpPr>
        <p:spPr>
          <a:xfrm>
            <a:off x="9317736" y="4343400"/>
            <a:ext cx="2203704" cy="685800"/>
          </a:xfrm>
          <a:prstGeom prst="rect">
            <a:avLst/>
          </a:prstGeom>
          <a:noFill/>
        </p:spPr>
        <p:txBody>
          <a:bodyPr wrap="square" anchor="t" lIns="0" rIns="0" tIns="0" bIns="0">
            <a:spAutoFit/>
          </a:bodyPr>
          <a:lstStyle/>
          <a:p>
            <a:pPr algn="l">
              <a:lnSpc>
                <a:spcPct val="120000"/>
              </a:lnSpc>
            </a:pPr>
            <a:r>
              <a:rPr sz="1080" b="0" i="0">
                <a:solidFill>
                  <a:srgbClr val="211D18"/>
                </a:solidFill>
                <a:latin typeface="Calibri"/>
              </a:rPr>
              <a:t>license_plate (single class)</a:t>
            </a:r>
          </a:p>
        </p:txBody>
      </p:sp>
      <p:sp>
        <p:nvSpPr>
          <p:cNvPr id="47" name="Rectangle 46"/>
          <p:cNvSpPr/>
          <p:nvPr/>
        </p:nvSpPr>
        <p:spPr>
          <a:xfrm>
            <a:off x="9116568" y="4937760"/>
            <a:ext cx="2606040" cy="960120"/>
          </a:xfrm>
          <a:prstGeom prst="rect">
            <a:avLst/>
          </a:prstGeom>
          <a:solidFill>
            <a:srgbClr val="E3D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17736" y="5047488"/>
            <a:ext cx="2203704" cy="274320"/>
          </a:xfrm>
          <a:prstGeom prst="rect">
            <a:avLst/>
          </a:prstGeom>
          <a:noFill/>
        </p:spPr>
        <p:txBody>
          <a:bodyPr wrap="square" anchor="t" lIns="0" rIns="0" tIns="0" bIns="0">
            <a:spAutoFit/>
          </a:bodyPr>
          <a:lstStyle/>
          <a:p>
            <a:pPr algn="l">
              <a:lnSpc>
                <a:spcPct val="100000"/>
              </a:lnSpc>
            </a:pPr>
            <a:r>
              <a:rPr sz="950" b="1" i="0">
                <a:solidFill>
                  <a:srgbClr val="C2542C"/>
                </a:solidFill>
                <a:latin typeface="Calibri"/>
              </a:rPr>
              <a:t>VERDICT</a:t>
            </a:r>
          </a:p>
        </p:txBody>
      </p:sp>
      <p:sp>
        <p:nvSpPr>
          <p:cNvPr id="49" name="TextBox 48"/>
          <p:cNvSpPr txBox="1"/>
          <p:nvPr/>
        </p:nvSpPr>
        <p:spPr>
          <a:xfrm>
            <a:off x="9317736" y="5303520"/>
            <a:ext cx="2203704" cy="594360"/>
          </a:xfrm>
          <a:prstGeom prst="rect">
            <a:avLst/>
          </a:prstGeom>
          <a:noFill/>
        </p:spPr>
        <p:txBody>
          <a:bodyPr wrap="square" anchor="t" lIns="0" rIns="0" tIns="0" bIns="0">
            <a:spAutoFit/>
          </a:bodyPr>
          <a:lstStyle/>
          <a:p>
            <a:pPr algn="l">
              <a:lnSpc>
                <a:spcPct val="118000"/>
              </a:lnSpc>
            </a:pPr>
            <a:r>
              <a:rPr sz="1030" b="0" i="0">
                <a:solidFill>
                  <a:srgbClr val="211D18"/>
                </a:solidFill>
                <a:latin typeface="Calibri"/>
              </a:rPr>
              <a:t>Folded in for detection only — script mismatch blocks OCR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DATASET SELECTION &amp; PREPARATION</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700" b="1" i="0">
                <a:solidFill>
                  <a:srgbClr val="211D18"/>
                </a:solidFill>
                <a:latin typeface="Calibri"/>
              </a:rPr>
              <a:t>DATASET AUDIT &amp; FINAL TRAINING SETS</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02</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TextBox 8"/>
          <p:cNvSpPr txBox="1"/>
          <p:nvPr/>
        </p:nvSpPr>
        <p:spPr>
          <a:xfrm>
            <a:off x="640080" y="1600200"/>
            <a:ext cx="10881360" cy="457200"/>
          </a:xfrm>
          <a:prstGeom prst="rect">
            <a:avLst/>
          </a:prstGeom>
          <a:noFill/>
        </p:spPr>
        <p:txBody>
          <a:bodyPr wrap="square" anchor="t" lIns="0" rIns="0" tIns="0" bIns="0">
            <a:spAutoFit/>
          </a:bodyPr>
          <a:lstStyle/>
          <a:p>
            <a:pPr algn="l">
              <a:lnSpc>
                <a:spcPct val="100000"/>
              </a:lnSpc>
            </a:pPr>
            <a:r>
              <a:rPr sz="1300" b="0" i="1">
                <a:solidFill>
                  <a:srgbClr val="6E655A"/>
                </a:solidFill>
                <a:latin typeface="Calibri"/>
              </a:rPr>
              <a:t>We didn't just use the datasets as downloaded — both were checked, cleaned, and combined before training.</a:t>
            </a:r>
          </a:p>
        </p:txBody>
      </p:sp>
      <p:sp>
        <p:nvSpPr>
          <p:cNvPr id="10" name="TextBox 9"/>
          <p:cNvSpPr txBox="1"/>
          <p:nvPr/>
        </p:nvSpPr>
        <p:spPr>
          <a:xfrm>
            <a:off x="640080" y="2240280"/>
            <a:ext cx="5257800" cy="292608"/>
          </a:xfrm>
          <a:prstGeom prst="rect">
            <a:avLst/>
          </a:prstGeom>
          <a:noFill/>
        </p:spPr>
        <p:txBody>
          <a:bodyPr wrap="square" anchor="t" lIns="0" rIns="0" tIns="0" bIns="0">
            <a:spAutoFit/>
          </a:bodyPr>
          <a:lstStyle/>
          <a:p>
            <a:pPr algn="l">
              <a:lnSpc>
                <a:spcPct val="100000"/>
              </a:lnSpc>
            </a:pPr>
            <a:r>
              <a:rPr sz="1450" b="1" i="0">
                <a:solidFill>
                  <a:srgbClr val="1F3B4D"/>
                </a:solidFill>
                <a:latin typeface="Calibri"/>
              </a:rPr>
              <a:t>What we found and fixed</a:t>
            </a:r>
          </a:p>
        </p:txBody>
      </p:sp>
      <p:sp>
        <p:nvSpPr>
          <p:cNvPr id="11" name="TextBox 10"/>
          <p:cNvSpPr txBox="1"/>
          <p:nvPr/>
        </p:nvSpPr>
        <p:spPr>
          <a:xfrm>
            <a:off x="640080" y="2606040"/>
            <a:ext cx="5257800" cy="3291840"/>
          </a:xfrm>
          <a:prstGeom prst="rect">
            <a:avLst/>
          </a:prstGeom>
          <a:noFill/>
        </p:spPr>
        <p:txBody>
          <a:bodyPr wrap="square" lIns="0" rIns="0" tIns="0" bIns="0">
            <a:spAutoFit/>
          </a:bodyPr>
          <a:lstStyle/>
          <a:p>
            <a:pPr>
              <a:lnSpc>
                <a:spcPct val="125000"/>
              </a:lnSpc>
              <a:spcAft>
                <a:spcPts val="1400"/>
              </a:spcAft>
            </a:pPr>
            <a:r>
              <a:rPr sz="1180">
                <a:solidFill>
                  <a:srgbClr val="211D18"/>
                </a:solidFill>
                <a:latin typeface="Calibri"/>
              </a:rPr>
              <a:t>—  Found duplicate photos in the helmet+plate set showing up in both training and testing — fixed by re-splitting properly</a:t>
            </a:r>
          </a:p>
          <a:p>
            <a:pPr>
              <a:lnSpc>
                <a:spcPct val="125000"/>
              </a:lnSpc>
              <a:spcAft>
                <a:spcPts val="1400"/>
              </a:spcAft>
            </a:pPr>
            <a:r>
              <a:rPr sz="1180">
                <a:solidFill>
                  <a:srgbClr val="211D18"/>
                </a:solidFill>
                <a:latin typeface="Calibri"/>
              </a:rPr>
              <a:t>—  Checked all 35,395 images one by one: 0 corrupt files, 0 missing labels, 0 duplicates across splits</a:t>
            </a:r>
          </a:p>
          <a:p>
            <a:pPr>
              <a:lnSpc>
                <a:spcPct val="125000"/>
              </a:lnSpc>
              <a:spcAft>
                <a:spcPts val="1400"/>
              </a:spcAft>
            </a:pPr>
            <a:r>
              <a:rPr sz="1180">
                <a:solidFill>
                  <a:srgbClr val="211D18"/>
                </a:solidFill>
                <a:latin typeface="Calibri"/>
              </a:rPr>
              <a:t>—  Found 328 labels saved in the wrong format — converted all of them; no data was lost</a:t>
            </a:r>
          </a:p>
          <a:p>
            <a:pPr>
              <a:lnSpc>
                <a:spcPct val="125000"/>
              </a:lnSpc>
              <a:spcAft>
                <a:spcPts val="1400"/>
              </a:spcAft>
            </a:pPr>
            <a:r>
              <a:rPr sz="1180">
                <a:solidFill>
                  <a:srgbClr val="211D18"/>
                </a:solidFill>
                <a:latin typeface="Calibri"/>
              </a:rPr>
              <a:t>—  Triple-riding photos only showed violations — added normal-riding photos so the model learns both</a:t>
            </a:r>
          </a:p>
        </p:txBody>
      </p:sp>
      <p:sp>
        <p:nvSpPr>
          <p:cNvPr id="12" name="TextBox 11"/>
          <p:cNvSpPr txBox="1"/>
          <p:nvPr/>
        </p:nvSpPr>
        <p:spPr>
          <a:xfrm>
            <a:off x="6263640" y="2240280"/>
            <a:ext cx="5285232" cy="292608"/>
          </a:xfrm>
          <a:prstGeom prst="rect">
            <a:avLst/>
          </a:prstGeom>
          <a:noFill/>
        </p:spPr>
        <p:txBody>
          <a:bodyPr wrap="square" anchor="t" lIns="0" rIns="0" tIns="0" bIns="0">
            <a:spAutoFit/>
          </a:bodyPr>
          <a:lstStyle/>
          <a:p>
            <a:pPr algn="l">
              <a:lnSpc>
                <a:spcPct val="100000"/>
              </a:lnSpc>
            </a:pPr>
            <a:r>
              <a:rPr sz="1450" b="1" i="0">
                <a:solidFill>
                  <a:srgbClr val="1F3B4D"/>
                </a:solidFill>
                <a:latin typeface="Calibri"/>
              </a:rPr>
              <a:t>Final training sets</a:t>
            </a:r>
          </a:p>
        </p:txBody>
      </p:sp>
      <p:sp>
        <p:nvSpPr>
          <p:cNvPr id="13" name="Rectangle 12"/>
          <p:cNvSpPr/>
          <p:nvPr/>
        </p:nvSpPr>
        <p:spPr>
          <a:xfrm>
            <a:off x="6263640" y="2606040"/>
            <a:ext cx="5285232" cy="1051560"/>
          </a:xfrm>
          <a:prstGeom prst="rect">
            <a:avLst/>
          </a:prstGeom>
          <a:solidFill>
            <a:srgbClr val="EDE6D6"/>
          </a:solidFill>
          <a:ln w="952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2606040"/>
            <a:ext cx="54864" cy="105156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752344"/>
            <a:ext cx="4937760" cy="320040"/>
          </a:xfrm>
          <a:prstGeom prst="rect">
            <a:avLst/>
          </a:prstGeom>
          <a:noFill/>
        </p:spPr>
        <p:txBody>
          <a:bodyPr wrap="square" anchor="t" lIns="0" rIns="0" tIns="0" bIns="0">
            <a:spAutoFit/>
          </a:bodyPr>
          <a:lstStyle/>
          <a:p>
            <a:pPr algn="l">
              <a:lnSpc>
                <a:spcPct val="100000"/>
              </a:lnSpc>
            </a:pPr>
            <a:r>
              <a:rPr sz="1350" b="1" i="0">
                <a:solidFill>
                  <a:srgbClr val="1F3B4D"/>
                </a:solidFill>
                <a:latin typeface="Calibri"/>
              </a:rPr>
              <a:t>dataset/helmet_and_plate</a:t>
            </a:r>
          </a:p>
        </p:txBody>
      </p:sp>
      <p:sp>
        <p:nvSpPr>
          <p:cNvPr id="16" name="TextBox 15"/>
          <p:cNvSpPr txBox="1"/>
          <p:nvPr/>
        </p:nvSpPr>
        <p:spPr>
          <a:xfrm>
            <a:off x="6492240" y="3118104"/>
            <a:ext cx="4937760" cy="274320"/>
          </a:xfrm>
          <a:prstGeom prst="rect">
            <a:avLst/>
          </a:prstGeom>
          <a:noFill/>
        </p:spPr>
        <p:txBody>
          <a:bodyPr wrap="square" anchor="t" lIns="0" rIns="0" tIns="0" bIns="0">
            <a:spAutoFit/>
          </a:bodyPr>
          <a:lstStyle/>
          <a:p>
            <a:pPr algn="l">
              <a:lnSpc>
                <a:spcPct val="100000"/>
              </a:lnSpc>
            </a:pPr>
            <a:r>
              <a:rPr sz="1150" b="0" i="0">
                <a:solidFill>
                  <a:srgbClr val="211D18"/>
                </a:solidFill>
                <a:latin typeface="Calibri"/>
              </a:rPr>
              <a:t>train / valid / test:  24,936 / 3,810 / 2,678</a:t>
            </a:r>
          </a:p>
        </p:txBody>
      </p:sp>
      <p:sp>
        <p:nvSpPr>
          <p:cNvPr id="17" name="TextBox 16"/>
          <p:cNvSpPr txBox="1"/>
          <p:nvPr/>
        </p:nvSpPr>
        <p:spPr>
          <a:xfrm>
            <a:off x="6492240" y="3374136"/>
            <a:ext cx="4937760" cy="274320"/>
          </a:xfrm>
          <a:prstGeom prst="rect">
            <a:avLst/>
          </a:prstGeom>
          <a:noFill/>
        </p:spPr>
        <p:txBody>
          <a:bodyPr wrap="square" anchor="t" lIns="0" rIns="0" tIns="0" bIns="0">
            <a:spAutoFit/>
          </a:bodyPr>
          <a:lstStyle/>
          <a:p>
            <a:pPr algn="l">
              <a:lnSpc>
                <a:spcPct val="100000"/>
              </a:lnSpc>
            </a:pPr>
            <a:r>
              <a:rPr sz="1080" b="0" i="0">
                <a:solidFill>
                  <a:srgbClr val="6E655A"/>
                </a:solidFill>
                <a:latin typeface="Calibri"/>
              </a:rPr>
              <a:t>4 classes · 119,390 boxes</a:t>
            </a:r>
          </a:p>
        </p:txBody>
      </p:sp>
      <p:sp>
        <p:nvSpPr>
          <p:cNvPr id="18" name="Rectangle 17"/>
          <p:cNvSpPr/>
          <p:nvPr/>
        </p:nvSpPr>
        <p:spPr>
          <a:xfrm>
            <a:off x="6263640" y="3886200"/>
            <a:ext cx="5285232" cy="1051560"/>
          </a:xfrm>
          <a:prstGeom prst="rect">
            <a:avLst/>
          </a:prstGeom>
          <a:solidFill>
            <a:srgbClr val="EDE6D6"/>
          </a:solidFill>
          <a:ln w="952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886200"/>
            <a:ext cx="54864" cy="105156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032504"/>
            <a:ext cx="4937760" cy="320040"/>
          </a:xfrm>
          <a:prstGeom prst="rect">
            <a:avLst/>
          </a:prstGeom>
          <a:noFill/>
        </p:spPr>
        <p:txBody>
          <a:bodyPr wrap="square" anchor="t" lIns="0" rIns="0" tIns="0" bIns="0">
            <a:spAutoFit/>
          </a:bodyPr>
          <a:lstStyle/>
          <a:p>
            <a:pPr algn="l">
              <a:lnSpc>
                <a:spcPct val="100000"/>
              </a:lnSpc>
            </a:pPr>
            <a:r>
              <a:rPr sz="1350" b="1" i="0">
                <a:solidFill>
                  <a:srgbClr val="1F3B4D"/>
                </a:solidFill>
                <a:latin typeface="Calibri"/>
              </a:rPr>
              <a:t>dataset/triple_riding</a:t>
            </a:r>
          </a:p>
        </p:txBody>
      </p:sp>
      <p:sp>
        <p:nvSpPr>
          <p:cNvPr id="21" name="TextBox 20"/>
          <p:cNvSpPr txBox="1"/>
          <p:nvPr/>
        </p:nvSpPr>
        <p:spPr>
          <a:xfrm>
            <a:off x="6492240" y="4398264"/>
            <a:ext cx="4937760" cy="274320"/>
          </a:xfrm>
          <a:prstGeom prst="rect">
            <a:avLst/>
          </a:prstGeom>
          <a:noFill/>
        </p:spPr>
        <p:txBody>
          <a:bodyPr wrap="square" anchor="t" lIns="0" rIns="0" tIns="0" bIns="0">
            <a:spAutoFit/>
          </a:bodyPr>
          <a:lstStyle/>
          <a:p>
            <a:pPr algn="l">
              <a:lnSpc>
                <a:spcPct val="100000"/>
              </a:lnSpc>
            </a:pPr>
            <a:r>
              <a:rPr sz="1150" b="0" i="0">
                <a:solidFill>
                  <a:srgbClr val="211D18"/>
                </a:solidFill>
                <a:latin typeface="Calibri"/>
              </a:rPr>
              <a:t>train / valid / test:  3,475 / 331 / 165</a:t>
            </a:r>
          </a:p>
        </p:txBody>
      </p:sp>
      <p:sp>
        <p:nvSpPr>
          <p:cNvPr id="22" name="TextBox 21"/>
          <p:cNvSpPr txBox="1"/>
          <p:nvPr/>
        </p:nvSpPr>
        <p:spPr>
          <a:xfrm>
            <a:off x="6492240" y="4654296"/>
            <a:ext cx="4937760" cy="274320"/>
          </a:xfrm>
          <a:prstGeom prst="rect">
            <a:avLst/>
          </a:prstGeom>
          <a:noFill/>
        </p:spPr>
        <p:txBody>
          <a:bodyPr wrap="square" anchor="t" lIns="0" rIns="0" tIns="0" bIns="0">
            <a:spAutoFit/>
          </a:bodyPr>
          <a:lstStyle/>
          <a:p>
            <a:pPr algn="l">
              <a:lnSpc>
                <a:spcPct val="100000"/>
              </a:lnSpc>
            </a:pPr>
            <a:r>
              <a:rPr sz="1080" b="0" i="0">
                <a:solidFill>
                  <a:srgbClr val="6E655A"/>
                </a:solidFill>
                <a:latin typeface="Calibri"/>
              </a:rPr>
              <a:t>1 class · 3,589 boxes · ~20% negatives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3B4D"/>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5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286000"/>
            <a:ext cx="2743200" cy="1371600"/>
          </a:xfrm>
          <a:prstGeom prst="rect">
            <a:avLst/>
          </a:prstGeom>
          <a:noFill/>
        </p:spPr>
        <p:txBody>
          <a:bodyPr wrap="square" anchor="t" lIns="0" rIns="0" tIns="0" bIns="0">
            <a:spAutoFit/>
          </a:bodyPr>
          <a:lstStyle/>
          <a:p>
            <a:pPr algn="l">
              <a:lnSpc>
                <a:spcPct val="100000"/>
              </a:lnSpc>
            </a:pPr>
            <a:r>
              <a:rPr sz="10000" b="1" i="0">
                <a:solidFill>
                  <a:srgbClr val="C2542C"/>
                </a:solidFill>
                <a:latin typeface="Calibri"/>
              </a:rPr>
              <a:t>03</a:t>
            </a:r>
          </a:p>
        </p:txBody>
      </p:sp>
      <p:sp>
        <p:nvSpPr>
          <p:cNvPr id="4" name="TextBox 3"/>
          <p:cNvSpPr txBox="1"/>
          <p:nvPr/>
        </p:nvSpPr>
        <p:spPr>
          <a:xfrm>
            <a:off x="896112" y="3703320"/>
            <a:ext cx="10058400" cy="1188720"/>
          </a:xfrm>
          <a:prstGeom prst="rect">
            <a:avLst/>
          </a:prstGeom>
          <a:noFill/>
        </p:spPr>
        <p:txBody>
          <a:bodyPr wrap="square" anchor="t" lIns="0" rIns="0" tIns="0" bIns="0">
            <a:spAutoFit/>
          </a:bodyPr>
          <a:lstStyle/>
          <a:p>
            <a:pPr algn="l">
              <a:lnSpc>
                <a:spcPct val="100000"/>
              </a:lnSpc>
            </a:pPr>
            <a:r>
              <a:rPr sz="3200" b="1" i="0">
                <a:solidFill>
                  <a:srgbClr val="F6F2EA"/>
                </a:solidFill>
                <a:latin typeface="Calibri"/>
              </a:rPr>
              <a:t>Detailed AI Model Descriptions</a:t>
            </a:r>
          </a:p>
        </p:txBody>
      </p:sp>
      <p:sp>
        <p:nvSpPr>
          <p:cNvPr id="5" name="TextBox 4"/>
          <p:cNvSpPr txBox="1"/>
          <p:nvPr/>
        </p:nvSpPr>
        <p:spPr>
          <a:xfrm>
            <a:off x="914400" y="4480560"/>
            <a:ext cx="9601200" cy="731520"/>
          </a:xfrm>
          <a:prstGeom prst="rect">
            <a:avLst/>
          </a:prstGeom>
          <a:noFill/>
        </p:spPr>
        <p:txBody>
          <a:bodyPr wrap="square" anchor="t" lIns="0" rIns="0" tIns="0" bIns="0">
            <a:spAutoFit/>
          </a:bodyPr>
          <a:lstStyle/>
          <a:p>
            <a:pPr algn="l">
              <a:lnSpc>
                <a:spcPct val="100000"/>
              </a:lnSpc>
            </a:pPr>
            <a:r>
              <a:rPr sz="1400" b="0" i="1">
                <a:solidFill>
                  <a:srgbClr val="C9C0AE"/>
                </a:solidFill>
                <a:latin typeface="Calibri"/>
              </a:rPr>
              <a:t>How each part works — including the model we designed and trained ourselves.</a:t>
            </a:r>
          </a:p>
        </p:txBody>
      </p:sp>
      <p:sp>
        <p:nvSpPr>
          <p:cNvPr id="6" name="TextBox 5"/>
          <p:cNvSpPr txBox="1"/>
          <p:nvPr/>
        </p:nvSpPr>
        <p:spPr>
          <a:xfrm>
            <a:off x="868680" y="6263640"/>
            <a:ext cx="3657600" cy="274320"/>
          </a:xfrm>
          <a:prstGeom prst="rect">
            <a:avLst/>
          </a:prstGeom>
          <a:noFill/>
        </p:spPr>
        <p:txBody>
          <a:bodyPr wrap="square" anchor="t" lIns="0" rIns="0" tIns="0" bIns="0">
            <a:spAutoFit/>
          </a:bodyPr>
          <a:lstStyle/>
          <a:p>
            <a:pPr algn="l">
              <a:lnSpc>
                <a:spcPct val="100000"/>
              </a:lnSpc>
            </a:pPr>
            <a:r>
              <a:rPr sz="1100" b="0" i="0">
                <a:solidFill>
                  <a:srgbClr val="A89E8C"/>
                </a:solidFill>
                <a:latin typeface="Calibri"/>
              </a:rPr>
              <a:t>9/17/2026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DETAILED AI MODEL DESCRIPTIONS</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500" b="1" i="0">
                <a:solidFill>
                  <a:srgbClr val="211D18"/>
                </a:solidFill>
                <a:latin typeface="Calibri"/>
              </a:rPr>
              <a:t>EDGE THRESHOLD TRIGGER</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03</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Rectangle 8"/>
          <p:cNvSpPr/>
          <p:nvPr/>
        </p:nvSpPr>
        <p:spPr>
          <a:xfrm>
            <a:off x="640080" y="1572768"/>
            <a:ext cx="1325880" cy="310896"/>
          </a:xfrm>
          <a:prstGeom prst="rect">
            <a:avLst/>
          </a:prstGeom>
          <a:solidFill>
            <a:srgbClr val="F6F2EA"/>
          </a:solidFill>
          <a:ln w="1587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1F3B4D"/>
                </a:solidFill>
                <a:latin typeface="Calibri"/>
              </a:rPr>
              <a:t>MODEL 0</a:t>
            </a:r>
          </a:p>
        </p:txBody>
      </p:sp>
      <p:sp>
        <p:nvSpPr>
          <p:cNvPr id="10" name="Rectangle 9"/>
          <p:cNvSpPr/>
          <p:nvPr/>
        </p:nvSpPr>
        <p:spPr>
          <a:xfrm>
            <a:off x="2130552" y="1572768"/>
            <a:ext cx="1874519" cy="310896"/>
          </a:xfrm>
          <a:prstGeom prst="rect">
            <a:avLst/>
          </a:prstGeom>
          <a:solidFill>
            <a:srgbClr val="F6F2EA"/>
          </a:solidFill>
          <a:ln w="15875">
            <a:solidFill>
              <a:srgbClr val="4B704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4B7048"/>
                </a:solidFill>
                <a:latin typeface="Calibri"/>
              </a:rPr>
              <a:t>IMPLEMENTED</a:t>
            </a:r>
          </a:p>
        </p:txBody>
      </p:sp>
      <p:sp>
        <p:nvSpPr>
          <p:cNvPr id="11" name="Rectangle 10"/>
          <p:cNvSpPr/>
          <p:nvPr/>
        </p:nvSpPr>
        <p:spPr>
          <a:xfrm>
            <a:off x="640080" y="2121408"/>
            <a:ext cx="5285232" cy="127711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121408"/>
            <a:ext cx="54864" cy="127711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this part is</a:t>
            </a:r>
          </a:p>
        </p:txBody>
      </p:sp>
      <p:sp>
        <p:nvSpPr>
          <p:cNvPr id="14" name="TextBox 13"/>
          <p:cNvSpPr txBox="1"/>
          <p:nvPr/>
        </p:nvSpPr>
        <p:spPr>
          <a:xfrm>
            <a:off x="896112" y="2651760"/>
            <a:ext cx="4828032" cy="59131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A simple rule — not a trained model — running on the ESP32, kept deliberately simple so it reacts instantly with no delay.</a:t>
            </a:r>
          </a:p>
        </p:txBody>
      </p:sp>
      <p:sp>
        <p:nvSpPr>
          <p:cNvPr id="15" name="Rectangle 14"/>
          <p:cNvSpPr/>
          <p:nvPr/>
        </p:nvSpPr>
        <p:spPr>
          <a:xfrm>
            <a:off x="6199632" y="2121408"/>
            <a:ext cx="5285232" cy="127711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2121408"/>
            <a:ext cx="54864" cy="127711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it looks at</a:t>
            </a:r>
          </a:p>
        </p:txBody>
      </p:sp>
      <p:sp>
        <p:nvSpPr>
          <p:cNvPr id="18" name="TextBox 17"/>
          <p:cNvSpPr txBox="1"/>
          <p:nvPr/>
        </p:nvSpPr>
        <p:spPr>
          <a:xfrm>
            <a:off x="6455664" y="2651760"/>
            <a:ext cx="4828032" cy="59131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Two motion sensors that detect an approaching vehicle, plus a distance sensor sampled every 150ms.</a:t>
            </a:r>
          </a:p>
        </p:txBody>
      </p:sp>
      <p:sp>
        <p:nvSpPr>
          <p:cNvPr id="19" name="Rectangle 18"/>
          <p:cNvSpPr/>
          <p:nvPr/>
        </p:nvSpPr>
        <p:spPr>
          <a:xfrm>
            <a:off x="640080" y="3599688"/>
            <a:ext cx="5285232" cy="127711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599688"/>
            <a:ext cx="54864" cy="127711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76428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How it decides</a:t>
            </a:r>
          </a:p>
        </p:txBody>
      </p:sp>
      <p:sp>
        <p:nvSpPr>
          <p:cNvPr id="22" name="TextBox 21"/>
          <p:cNvSpPr txBox="1"/>
          <p:nvPr/>
        </p:nvSpPr>
        <p:spPr>
          <a:xfrm>
            <a:off x="896112" y="4130040"/>
            <a:ext cx="4828032" cy="59131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Speed = distance change ÷ time, compared against a threshold (20km/h for now, to be tuned on-site).</a:t>
            </a:r>
          </a:p>
        </p:txBody>
      </p:sp>
      <p:sp>
        <p:nvSpPr>
          <p:cNvPr id="23" name="Rectangle 22"/>
          <p:cNvSpPr/>
          <p:nvPr/>
        </p:nvSpPr>
        <p:spPr>
          <a:xfrm>
            <a:off x="6199632" y="3599688"/>
            <a:ext cx="5285232" cy="127711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3599688"/>
            <a:ext cx="54864" cy="127711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376428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happens when it triggers</a:t>
            </a:r>
          </a:p>
        </p:txBody>
      </p:sp>
      <p:sp>
        <p:nvSpPr>
          <p:cNvPr id="26" name="TextBox 25"/>
          <p:cNvSpPr txBox="1"/>
          <p:nvPr/>
        </p:nvSpPr>
        <p:spPr>
          <a:xfrm>
            <a:off x="6455664" y="4130040"/>
            <a:ext cx="4828032" cy="59131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It tells the camera to take a photo — the whole process takes under a second.</a:t>
            </a:r>
          </a:p>
        </p:txBody>
      </p:sp>
      <p:sp>
        <p:nvSpPr>
          <p:cNvPr id="27" name="Rectangle 26"/>
          <p:cNvSpPr/>
          <p:nvPr/>
        </p:nvSpPr>
        <p:spPr>
          <a:xfrm>
            <a:off x="640080" y="5077968"/>
            <a:ext cx="5285232" cy="127711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5077968"/>
            <a:ext cx="54864" cy="127711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 y="524256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Its boundary</a:t>
            </a:r>
          </a:p>
        </p:txBody>
      </p:sp>
      <p:sp>
        <p:nvSpPr>
          <p:cNvPr id="30" name="TextBox 29"/>
          <p:cNvSpPr txBox="1"/>
          <p:nvPr/>
        </p:nvSpPr>
        <p:spPr>
          <a:xfrm>
            <a:off x="896112" y="5608320"/>
            <a:ext cx="4828032" cy="59131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This is the only part allowed to trigger the camera in real time — every model downstream only analyzes, it never triggers anything itself.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DETAILED AI MODEL DESCRIPTIONS</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500" b="1" i="0">
                <a:solidFill>
                  <a:srgbClr val="211D18"/>
                </a:solidFill>
                <a:latin typeface="Calibri"/>
              </a:rPr>
              <a:t>OUR OWN MODEL — WHY AND HOW</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03</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Rectangle 8"/>
          <p:cNvSpPr/>
          <p:nvPr/>
        </p:nvSpPr>
        <p:spPr>
          <a:xfrm>
            <a:off x="640080" y="1572768"/>
            <a:ext cx="1600200" cy="310896"/>
          </a:xfrm>
          <a:prstGeom prst="rect">
            <a:avLst/>
          </a:prstGeom>
          <a:solidFill>
            <a:srgbClr val="F6F2EA"/>
          </a:solidFill>
          <a:ln w="1587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1F3B4D"/>
                </a:solidFill>
                <a:latin typeface="Calibri"/>
              </a:rPr>
              <a:t>OUR MODEL</a:t>
            </a:r>
          </a:p>
        </p:txBody>
      </p:sp>
      <p:sp>
        <p:nvSpPr>
          <p:cNvPr id="10" name="Rectangle 9"/>
          <p:cNvSpPr/>
          <p:nvPr/>
        </p:nvSpPr>
        <p:spPr>
          <a:xfrm>
            <a:off x="2404872" y="1572768"/>
            <a:ext cx="3520439" cy="310896"/>
          </a:xfrm>
          <a:prstGeom prst="rect">
            <a:avLst/>
          </a:prstGeom>
          <a:solidFill>
            <a:srgbClr val="F6F2EA"/>
          </a:solidFill>
          <a:ln w="15875">
            <a:solidFill>
              <a:srgbClr val="4B704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4B7048"/>
                </a:solidFill>
                <a:latin typeface="Calibri"/>
              </a:rPr>
              <a:t>REQUIRED BY THE PROJECT</a:t>
            </a:r>
          </a:p>
        </p:txBody>
      </p:sp>
      <p:sp>
        <p:nvSpPr>
          <p:cNvPr id="11" name="Rectangle 10"/>
          <p:cNvSpPr/>
          <p:nvPr/>
        </p:nvSpPr>
        <p:spPr>
          <a:xfrm>
            <a:off x="640080"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Why we built our own</a:t>
            </a:r>
          </a:p>
        </p:txBody>
      </p:sp>
      <p:sp>
        <p:nvSpPr>
          <p:cNvPr id="14" name="TextBox 13"/>
          <p:cNvSpPr txBox="1"/>
          <p:nvPr/>
        </p:nvSpPr>
        <p:spPr>
          <a:xfrm>
            <a:off x="896112"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Our project requires a model we designed and trained ourselves, not just an existing tool plugged in. So this is our main model — YOLO26 shows up later, only as a comparison.</a:t>
            </a:r>
          </a:p>
        </p:txBody>
      </p:sp>
      <p:sp>
        <p:nvSpPr>
          <p:cNvPr id="15" name="Rectangle 14"/>
          <p:cNvSpPr/>
          <p:nvPr/>
        </p:nvSpPr>
        <p:spPr>
          <a:xfrm>
            <a:off x="6199632"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How it sees a photo</a:t>
            </a:r>
          </a:p>
        </p:txBody>
      </p:sp>
      <p:sp>
        <p:nvSpPr>
          <p:cNvPr id="18" name="TextBox 17"/>
          <p:cNvSpPr txBox="1"/>
          <p:nvPr/>
        </p:nvSpPr>
        <p:spPr>
          <a:xfrm>
            <a:off x="6455664"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It starts from a small, already-trained network that already knows how to recognize general shapes and edges — a common, accepted starting point, not a shortcut around building our own model.</a:t>
            </a:r>
          </a:p>
        </p:txBody>
      </p:sp>
      <p:sp>
        <p:nvSpPr>
          <p:cNvPr id="19" name="Rectangle 18"/>
          <p:cNvSpPr/>
          <p:nvPr/>
        </p:nvSpPr>
        <p:spPr>
          <a:xfrm>
            <a:off x="640080"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we designed ourselves</a:t>
            </a:r>
          </a:p>
        </p:txBody>
      </p:sp>
      <p:sp>
        <p:nvSpPr>
          <p:cNvPr id="22" name="TextBox 21"/>
          <p:cNvSpPr txBox="1"/>
          <p:nvPr/>
        </p:nvSpPr>
        <p:spPr>
          <a:xfrm>
            <a:off x="896112"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On top of that starting point, we designed and built the layers that turn those features into helmet, plate, and rider boxes — the actual detection logic is ours.</a:t>
            </a:r>
          </a:p>
        </p:txBody>
      </p:sp>
      <p:sp>
        <p:nvSpPr>
          <p:cNvPr id="23" name="Rectangle 22"/>
          <p:cNvSpPr/>
          <p:nvPr/>
        </p:nvSpPr>
        <p:spPr>
          <a:xfrm>
            <a:off x="6199632"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How we trained it</a:t>
            </a:r>
          </a:p>
        </p:txBody>
      </p:sp>
      <p:sp>
        <p:nvSpPr>
          <p:cNvPr id="26" name="TextBox 25"/>
          <p:cNvSpPr txBox="1"/>
          <p:nvPr/>
        </p:nvSpPr>
        <p:spPr>
          <a:xfrm>
            <a:off x="6455664"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We trained it ourselves on our own dataset, so the final result is our own model with our own weights, not something borrowed.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DETAILED AI MODEL DESCRIPTIONS</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500" b="1" i="0">
                <a:solidFill>
                  <a:srgbClr val="211D18"/>
                </a:solidFill>
                <a:latin typeface="Calibri"/>
              </a:rPr>
              <a:t>HELMET &amp; PLATE DETECTOR — OUR MODEL</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03</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Rectangle 8"/>
          <p:cNvSpPr/>
          <p:nvPr/>
        </p:nvSpPr>
        <p:spPr>
          <a:xfrm>
            <a:off x="640080" y="1572768"/>
            <a:ext cx="1325880" cy="310896"/>
          </a:xfrm>
          <a:prstGeom prst="rect">
            <a:avLst/>
          </a:prstGeom>
          <a:solidFill>
            <a:srgbClr val="F6F2EA"/>
          </a:solidFill>
          <a:ln w="1587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1F3B4D"/>
                </a:solidFill>
                <a:latin typeface="Calibri"/>
              </a:rPr>
              <a:t>MODEL 1</a:t>
            </a:r>
          </a:p>
        </p:txBody>
      </p:sp>
      <p:sp>
        <p:nvSpPr>
          <p:cNvPr id="10" name="Rectangle 9"/>
          <p:cNvSpPr/>
          <p:nvPr/>
        </p:nvSpPr>
        <p:spPr>
          <a:xfrm>
            <a:off x="2130552" y="1572768"/>
            <a:ext cx="2286000" cy="310896"/>
          </a:xfrm>
          <a:prstGeom prst="rect">
            <a:avLst/>
          </a:prstGeom>
          <a:solidFill>
            <a:srgbClr val="F6F2EA"/>
          </a:solidFill>
          <a:ln w="15875">
            <a:solidFill>
              <a:srgbClr val="4B704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4B7048"/>
                </a:solidFill>
                <a:latin typeface="Calibri"/>
              </a:rPr>
              <a:t>OUR MAIN MODEL</a:t>
            </a:r>
          </a:p>
        </p:txBody>
      </p:sp>
      <p:sp>
        <p:nvSpPr>
          <p:cNvPr id="11" name="Rectangle 10"/>
          <p:cNvSpPr/>
          <p:nvPr/>
        </p:nvSpPr>
        <p:spPr>
          <a:xfrm>
            <a:off x="640080"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this model does</a:t>
            </a:r>
          </a:p>
        </p:txBody>
      </p:sp>
      <p:sp>
        <p:nvSpPr>
          <p:cNvPr id="14" name="TextBox 13"/>
          <p:cNvSpPr txBox="1"/>
          <p:nvPr/>
        </p:nvSpPr>
        <p:spPr>
          <a:xfrm>
            <a:off x="896112"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Looks at one photo and finds every bike, helmet, no-helmet, and license plate in it — all in a single pass.</a:t>
            </a:r>
          </a:p>
        </p:txBody>
      </p:sp>
      <p:sp>
        <p:nvSpPr>
          <p:cNvPr id="15" name="Rectangle 14"/>
          <p:cNvSpPr/>
          <p:nvPr/>
        </p:nvSpPr>
        <p:spPr>
          <a:xfrm>
            <a:off x="6199632"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Why we designed it this way</a:t>
            </a:r>
          </a:p>
        </p:txBody>
      </p:sp>
      <p:sp>
        <p:nvSpPr>
          <p:cNvPr id="18" name="TextBox 17"/>
          <p:cNvSpPr txBox="1"/>
          <p:nvPr/>
        </p:nvSpPr>
        <p:spPr>
          <a:xfrm>
            <a:off x="6455664"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We need boxes around each object, not just one label for the whole photo. We also made sure it pays extra attention to small objects, since plates and helmets are often far from the camera.</a:t>
            </a:r>
          </a:p>
        </p:txBody>
      </p:sp>
      <p:sp>
        <p:nvSpPr>
          <p:cNvPr id="19" name="Rectangle 18"/>
          <p:cNvSpPr/>
          <p:nvPr/>
        </p:nvSpPr>
        <p:spPr>
          <a:xfrm>
            <a:off x="640080"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it detects</a:t>
            </a:r>
          </a:p>
        </p:txBody>
      </p:sp>
      <p:sp>
        <p:nvSpPr>
          <p:cNvPr id="22" name="TextBox 21"/>
          <p:cNvSpPr txBox="1"/>
          <p:nvPr/>
        </p:nvSpPr>
        <p:spPr>
          <a:xfrm>
            <a:off x="896112"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4 things — bike, helmet, no-helmet, number-plate — learned from about 119,000 labeled examples.</a:t>
            </a:r>
          </a:p>
        </p:txBody>
      </p:sp>
      <p:sp>
        <p:nvSpPr>
          <p:cNvPr id="23" name="Rectangle 22"/>
          <p:cNvSpPr/>
          <p:nvPr/>
        </p:nvSpPr>
        <p:spPr>
          <a:xfrm>
            <a:off x="6199632"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How we trained it</a:t>
            </a:r>
          </a:p>
        </p:txBody>
      </p:sp>
      <p:sp>
        <p:nvSpPr>
          <p:cNvPr id="26" name="TextBox 25"/>
          <p:cNvSpPr txBox="1"/>
          <p:nvPr/>
        </p:nvSpPr>
        <p:spPr>
          <a:xfrm>
            <a:off x="6455664"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Trained on our own dataset (24,936 training photos, with separate photos held back for testing), using Google Colab's free GPU.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DETAILED AI MODEL DESCRIPTIONS</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500" b="1" i="0">
                <a:solidFill>
                  <a:srgbClr val="211D18"/>
                </a:solidFill>
                <a:latin typeface="Calibri"/>
              </a:rPr>
              <a:t>TRIPLE-RIDING DETECTOR — OUR MODEL</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03</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Rectangle 8"/>
          <p:cNvSpPr/>
          <p:nvPr/>
        </p:nvSpPr>
        <p:spPr>
          <a:xfrm>
            <a:off x="640080" y="1572768"/>
            <a:ext cx="1325880" cy="310896"/>
          </a:xfrm>
          <a:prstGeom prst="rect">
            <a:avLst/>
          </a:prstGeom>
          <a:solidFill>
            <a:srgbClr val="F6F2EA"/>
          </a:solidFill>
          <a:ln w="1587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1F3B4D"/>
                </a:solidFill>
                <a:latin typeface="Calibri"/>
              </a:rPr>
              <a:t>MODEL 2</a:t>
            </a:r>
          </a:p>
        </p:txBody>
      </p:sp>
      <p:sp>
        <p:nvSpPr>
          <p:cNvPr id="10" name="Rectangle 9"/>
          <p:cNvSpPr/>
          <p:nvPr/>
        </p:nvSpPr>
        <p:spPr>
          <a:xfrm>
            <a:off x="2130552" y="1572768"/>
            <a:ext cx="2286000" cy="310896"/>
          </a:xfrm>
          <a:prstGeom prst="rect">
            <a:avLst/>
          </a:prstGeom>
          <a:solidFill>
            <a:srgbClr val="F6F2EA"/>
          </a:solidFill>
          <a:ln w="15875">
            <a:solidFill>
              <a:srgbClr val="4B704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4B7048"/>
                </a:solidFill>
                <a:latin typeface="Calibri"/>
              </a:rPr>
              <a:t>OUR MAIN MODEL</a:t>
            </a:r>
          </a:p>
        </p:txBody>
      </p:sp>
      <p:sp>
        <p:nvSpPr>
          <p:cNvPr id="11" name="Rectangle 10"/>
          <p:cNvSpPr/>
          <p:nvPr/>
        </p:nvSpPr>
        <p:spPr>
          <a:xfrm>
            <a:off x="640080"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this model does</a:t>
            </a:r>
          </a:p>
        </p:txBody>
      </p:sp>
      <p:sp>
        <p:nvSpPr>
          <p:cNvPr id="14" name="TextBox 13"/>
          <p:cNvSpPr txBox="1"/>
          <p:nvPr/>
        </p:nvSpPr>
        <p:spPr>
          <a:xfrm>
            <a:off x="896112"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Looks at a photo and flags it when three or more people are riding a single bike.</a:t>
            </a:r>
          </a:p>
        </p:txBody>
      </p:sp>
      <p:sp>
        <p:nvSpPr>
          <p:cNvPr id="15" name="Rectangle 14"/>
          <p:cNvSpPr/>
          <p:nvPr/>
        </p:nvSpPr>
        <p:spPr>
          <a:xfrm>
            <a:off x="6199632"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Why it's a separate model</a:t>
            </a:r>
          </a:p>
        </p:txBody>
      </p:sp>
      <p:sp>
        <p:nvSpPr>
          <p:cNvPr id="18" name="TextBox 17"/>
          <p:cNvSpPr txBox="1"/>
          <p:nvPr/>
        </p:nvSpPr>
        <p:spPr>
          <a:xfrm>
            <a:off x="6455664"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Counting riders is a different kind of problem than spotting one object — it looks at the whole scene. Training it together with the helmet model would have hurt both, so we kept them separate.</a:t>
            </a:r>
          </a:p>
        </p:txBody>
      </p:sp>
      <p:sp>
        <p:nvSpPr>
          <p:cNvPr id="19" name="Rectangle 18"/>
          <p:cNvSpPr/>
          <p:nvPr/>
        </p:nvSpPr>
        <p:spPr>
          <a:xfrm>
            <a:off x="640080"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we added</a:t>
            </a:r>
          </a:p>
        </p:txBody>
      </p:sp>
      <p:sp>
        <p:nvSpPr>
          <p:cNvPr id="22" name="TextBox 21"/>
          <p:cNvSpPr txBox="1"/>
          <p:nvPr/>
        </p:nvSpPr>
        <p:spPr>
          <a:xfrm>
            <a:off x="896112"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The original photos only showed violations. We added photos of normal, 1–2 rider bikes too, so the model also learns what a non-violation looks like.</a:t>
            </a:r>
          </a:p>
        </p:txBody>
      </p:sp>
      <p:sp>
        <p:nvSpPr>
          <p:cNvPr id="23" name="Rectangle 22"/>
          <p:cNvSpPr/>
          <p:nvPr/>
        </p:nvSpPr>
        <p:spPr>
          <a:xfrm>
            <a:off x="6199632"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How we trained it</a:t>
            </a:r>
          </a:p>
        </p:txBody>
      </p:sp>
      <p:sp>
        <p:nvSpPr>
          <p:cNvPr id="26" name="TextBox 25"/>
          <p:cNvSpPr txBox="1"/>
          <p:nvPr/>
        </p:nvSpPr>
        <p:spPr>
          <a:xfrm>
            <a:off x="6455664"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Trained on our own dataset — about 3,500 training photos, with roughly 1 in 5 showing a normal, non-violating ride.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DETAILED AI MODEL DESCRIPTIONS</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500" b="1" i="0">
                <a:solidFill>
                  <a:srgbClr val="211D18"/>
                </a:solidFill>
                <a:latin typeface="Calibri"/>
              </a:rPr>
              <a:t>YOLO26 — OUR COMPARISON MODEL</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03</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Rectangle 8"/>
          <p:cNvSpPr/>
          <p:nvPr/>
        </p:nvSpPr>
        <p:spPr>
          <a:xfrm>
            <a:off x="640080" y="1572768"/>
            <a:ext cx="1737360" cy="310896"/>
          </a:xfrm>
          <a:prstGeom prst="rect">
            <a:avLst/>
          </a:prstGeom>
          <a:solidFill>
            <a:srgbClr val="F6F2EA"/>
          </a:solidFill>
          <a:ln w="1587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1F3B4D"/>
                </a:solidFill>
                <a:latin typeface="Calibri"/>
              </a:rPr>
              <a:t>COMPARISON</a:t>
            </a:r>
          </a:p>
        </p:txBody>
      </p:sp>
      <p:sp>
        <p:nvSpPr>
          <p:cNvPr id="10" name="Rectangle 9"/>
          <p:cNvSpPr/>
          <p:nvPr/>
        </p:nvSpPr>
        <p:spPr>
          <a:xfrm>
            <a:off x="2542032" y="1572768"/>
            <a:ext cx="2834639" cy="310896"/>
          </a:xfrm>
          <a:prstGeom prst="rect">
            <a:avLst/>
          </a:prstGeom>
          <a:solidFill>
            <a:srgbClr val="F6F2EA"/>
          </a:solidFill>
          <a:ln w="15875">
            <a:solidFill>
              <a:srgbClr val="C2542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C2542C"/>
                </a:solidFill>
                <a:latin typeface="Calibri"/>
              </a:rPr>
              <a:t>NOT OUR MAIN MODEL</a:t>
            </a:r>
          </a:p>
        </p:txBody>
      </p:sp>
      <p:sp>
        <p:nvSpPr>
          <p:cNvPr id="11" name="Rectangle 10"/>
          <p:cNvSpPr/>
          <p:nvPr/>
        </p:nvSpPr>
        <p:spPr>
          <a:xfrm>
            <a:off x="640080"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Why we also use YOLO26</a:t>
            </a:r>
          </a:p>
        </p:txBody>
      </p:sp>
      <p:sp>
        <p:nvSpPr>
          <p:cNvPr id="14" name="TextBox 13"/>
          <p:cNvSpPr txBox="1"/>
          <p:nvPr/>
        </p:nvSpPr>
        <p:spPr>
          <a:xfrm>
            <a:off x="896112"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Our project requires us to build our own model — but it also helps to know how good it is. YOLO26 is a well-known, ready-made detector, so we train it on the same data as a fair comparison point.</a:t>
            </a:r>
          </a:p>
        </p:txBody>
      </p:sp>
      <p:sp>
        <p:nvSpPr>
          <p:cNvPr id="15" name="Rectangle 14"/>
          <p:cNvSpPr/>
          <p:nvPr/>
        </p:nvSpPr>
        <p:spPr>
          <a:xfrm>
            <a:off x="6199632"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YOLO26 is</a:t>
            </a:r>
          </a:p>
        </p:txBody>
      </p:sp>
      <p:sp>
        <p:nvSpPr>
          <p:cNvPr id="18" name="TextBox 17"/>
          <p:cNvSpPr txBox="1"/>
          <p:nvPr/>
        </p:nvSpPr>
        <p:spPr>
          <a:xfrm>
            <a:off x="6455664"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One of the most widely used object-detection tools available today. We did not design it — we simply trained it on our dataset, the same way anyone else could.</a:t>
            </a:r>
          </a:p>
        </p:txBody>
      </p:sp>
      <p:sp>
        <p:nvSpPr>
          <p:cNvPr id="19" name="Rectangle 18"/>
          <p:cNvSpPr/>
          <p:nvPr/>
        </p:nvSpPr>
        <p:spPr>
          <a:xfrm>
            <a:off x="640080"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How we compare them</a:t>
            </a:r>
          </a:p>
        </p:txBody>
      </p:sp>
      <p:sp>
        <p:nvSpPr>
          <p:cNvPr id="22" name="TextBox 21"/>
          <p:cNvSpPr txBox="1"/>
          <p:nvPr/>
        </p:nvSpPr>
        <p:spPr>
          <a:xfrm>
            <a:off x="896112"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Both models train on the exact same photos and get tested the same way, so the comparison is fair. We report accuracy for both, side by side.</a:t>
            </a:r>
          </a:p>
        </p:txBody>
      </p:sp>
      <p:sp>
        <p:nvSpPr>
          <p:cNvPr id="23" name="Rectangle 22"/>
          <p:cNvSpPr/>
          <p:nvPr/>
        </p:nvSpPr>
        <p:spPr>
          <a:xfrm>
            <a:off x="6199632"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this tells us</a:t>
            </a:r>
          </a:p>
        </p:txBody>
      </p:sp>
      <p:sp>
        <p:nvSpPr>
          <p:cNvPr id="26" name="TextBox 25"/>
          <p:cNvSpPr txBox="1"/>
          <p:nvPr/>
        </p:nvSpPr>
        <p:spPr>
          <a:xfrm>
            <a:off x="6455664"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It shows how close a model we built ourselves can get to a widely-used, industry-standard one — a meaningful result either way.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686800" cy="274320"/>
          </a:xfrm>
          <a:prstGeom prst="rect">
            <a:avLst/>
          </a:prstGeom>
          <a:noFill/>
        </p:spPr>
        <p:txBody>
          <a:bodyPr wrap="square" anchor="t" lIns="0" rIns="0" tIns="0" bIns="0">
            <a:spAutoFit/>
          </a:bodyPr>
          <a:lstStyle/>
          <a:p>
            <a:pPr algn="l">
              <a:lnSpc>
                <a:spcPct val="100000"/>
              </a:lnSpc>
            </a:pPr>
            <a:r>
              <a:rPr sz="1150" b="1" i="0">
                <a:solidFill>
                  <a:srgbClr val="C2542C"/>
                </a:solidFill>
                <a:latin typeface="Calibri"/>
              </a:rPr>
              <a:t>DETAILED AI MODEL DESCRIPTIONS</a:t>
            </a:r>
          </a:p>
        </p:txBody>
      </p:sp>
      <p:sp>
        <p:nvSpPr>
          <p:cNvPr id="4" name="TextBox 3"/>
          <p:cNvSpPr txBox="1"/>
          <p:nvPr/>
        </p:nvSpPr>
        <p:spPr>
          <a:xfrm>
            <a:off x="621792" y="658368"/>
            <a:ext cx="9418320" cy="685800"/>
          </a:xfrm>
          <a:prstGeom prst="rect">
            <a:avLst/>
          </a:prstGeom>
          <a:noFill/>
        </p:spPr>
        <p:txBody>
          <a:bodyPr wrap="square" anchor="t" lIns="0" rIns="0" tIns="0" bIns="0">
            <a:spAutoFit/>
          </a:bodyPr>
          <a:lstStyle/>
          <a:p>
            <a:pPr algn="l">
              <a:lnSpc>
                <a:spcPct val="100000"/>
              </a:lnSpc>
            </a:pPr>
            <a:r>
              <a:rPr sz="2500" b="1" i="0">
                <a:solidFill>
                  <a:srgbClr val="211D18"/>
                </a:solidFill>
                <a:latin typeface="Calibri"/>
              </a:rPr>
              <a:t>NUMBER-PLATE OCR</a:t>
            </a:r>
          </a:p>
        </p:txBody>
      </p:sp>
      <p:sp>
        <p:nvSpPr>
          <p:cNvPr id="5" name="TextBox 4"/>
          <p:cNvSpPr txBox="1"/>
          <p:nvPr/>
        </p:nvSpPr>
        <p:spPr>
          <a:xfrm>
            <a:off x="11064240" y="384048"/>
            <a:ext cx="685800" cy="502920"/>
          </a:xfrm>
          <a:prstGeom prst="rect">
            <a:avLst/>
          </a:prstGeom>
          <a:noFill/>
        </p:spPr>
        <p:txBody>
          <a:bodyPr wrap="square" anchor="t" lIns="0" rIns="0" tIns="0" bIns="0">
            <a:spAutoFit/>
          </a:bodyPr>
          <a:lstStyle/>
          <a:p>
            <a:pPr algn="r">
              <a:lnSpc>
                <a:spcPct val="100000"/>
              </a:lnSpc>
            </a:pPr>
            <a:r>
              <a:rPr sz="2200" b="1" i="0">
                <a:solidFill>
                  <a:srgbClr val="1F3B4D"/>
                </a:solidFill>
                <a:latin typeface="Calibri"/>
              </a:rPr>
              <a:t>03</a:t>
            </a:r>
          </a:p>
        </p:txBody>
      </p:sp>
      <p:cxnSp>
        <p:nvCxnSpPr>
          <p:cNvPr id="6" name="Connector 5"/>
          <p:cNvCxnSpPr/>
          <p:nvPr/>
        </p:nvCxnSpPr>
        <p:spPr>
          <a:xfrm>
            <a:off x="640080" y="1389888"/>
            <a:ext cx="10908792" cy="0"/>
          </a:xfrm>
          <a:prstGeom prst="line">
            <a:avLst/>
          </a:prstGeom>
          <a:ln w="12700">
            <a:solidFill>
              <a:srgbClr val="D7CDB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528816"/>
            <a:ext cx="5486400" cy="274320"/>
          </a:xfrm>
          <a:prstGeom prst="rect">
            <a:avLst/>
          </a:prstGeom>
          <a:noFill/>
        </p:spPr>
        <p:txBody>
          <a:bodyPr wrap="square" anchor="t" lIns="0" rIns="0" tIns="0" bIns="0">
            <a:spAutoFit/>
          </a:bodyPr>
          <a:lstStyle/>
          <a:p>
            <a:pPr algn="l">
              <a:lnSpc>
                <a:spcPct val="100000"/>
              </a:lnSpc>
            </a:pPr>
            <a:r>
              <a:rPr sz="900" b="0" i="0">
                <a:solidFill>
                  <a:srgbClr val="6E655A"/>
                </a:solidFill>
                <a:latin typeface="Calibri"/>
              </a:rPr>
              <a:t>AIoT Smart Helmet Detection &amp; Traffic Violation Monitoring</a:t>
            </a:r>
          </a:p>
        </p:txBody>
      </p:sp>
      <p:sp>
        <p:nvSpPr>
          <p:cNvPr id="8" name="TextBox 7"/>
          <p:cNvSpPr txBox="1"/>
          <p:nvPr/>
        </p:nvSpPr>
        <p:spPr>
          <a:xfrm>
            <a:off x="9509760" y="6528816"/>
            <a:ext cx="2130552" cy="274320"/>
          </a:xfrm>
          <a:prstGeom prst="rect">
            <a:avLst/>
          </a:prstGeom>
          <a:noFill/>
        </p:spPr>
        <p:txBody>
          <a:bodyPr wrap="square" anchor="t" lIns="0" rIns="0" tIns="0" bIns="0">
            <a:spAutoFit/>
          </a:bodyPr>
          <a:lstStyle/>
          <a:p>
            <a:pPr algn="r">
              <a:lnSpc>
                <a:spcPct val="100000"/>
              </a:lnSpc>
            </a:pPr>
            <a:r>
              <a:rPr sz="900" b="0" i="0">
                <a:solidFill>
                  <a:srgbClr val="6E655A"/>
                </a:solidFill>
                <a:latin typeface="Calibri"/>
              </a:rPr>
              <a:t>9/17/2026</a:t>
            </a:r>
          </a:p>
        </p:txBody>
      </p:sp>
      <p:sp>
        <p:nvSpPr>
          <p:cNvPr id="9" name="Rectangle 8"/>
          <p:cNvSpPr/>
          <p:nvPr/>
        </p:nvSpPr>
        <p:spPr>
          <a:xfrm>
            <a:off x="640080" y="1572768"/>
            <a:ext cx="1325880" cy="310896"/>
          </a:xfrm>
          <a:prstGeom prst="rect">
            <a:avLst/>
          </a:prstGeom>
          <a:solidFill>
            <a:srgbClr val="F6F2EA"/>
          </a:solidFill>
          <a:ln w="1587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1F3B4D"/>
                </a:solidFill>
                <a:latin typeface="Calibri"/>
              </a:rPr>
              <a:t>MODEL 3</a:t>
            </a:r>
          </a:p>
        </p:txBody>
      </p:sp>
      <p:sp>
        <p:nvSpPr>
          <p:cNvPr id="10" name="Rectangle 9"/>
          <p:cNvSpPr/>
          <p:nvPr/>
        </p:nvSpPr>
        <p:spPr>
          <a:xfrm>
            <a:off x="2130552" y="1572768"/>
            <a:ext cx="2971800" cy="310896"/>
          </a:xfrm>
          <a:prstGeom prst="rect">
            <a:avLst/>
          </a:prstGeom>
          <a:solidFill>
            <a:srgbClr val="F6F2EA"/>
          </a:solidFill>
          <a:ln w="15875">
            <a:solidFill>
              <a:srgbClr val="1F3B4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a:solidFill>
                  <a:srgbClr val="1F3B4D"/>
                </a:solidFill>
                <a:latin typeface="Calibri"/>
              </a:rPr>
              <a:t>PRETRAINED / REUSED</a:t>
            </a:r>
          </a:p>
        </p:txBody>
      </p:sp>
      <p:sp>
        <p:nvSpPr>
          <p:cNvPr id="11" name="Rectangle 10"/>
          <p:cNvSpPr/>
          <p:nvPr/>
        </p:nvSpPr>
        <p:spPr>
          <a:xfrm>
            <a:off x="640080"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this OCR is</a:t>
            </a:r>
          </a:p>
        </p:txBody>
      </p:sp>
      <p:sp>
        <p:nvSpPr>
          <p:cNvPr id="14" name="TextBox 13"/>
          <p:cNvSpPr txBox="1"/>
          <p:nvPr/>
        </p:nvSpPr>
        <p:spPr>
          <a:xfrm>
            <a:off x="896112"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A ready-made text reader (EasyOCR, with PaddleOCR as a backup option) — we don't train our own, since reading text from an image is already a solved problem.</a:t>
            </a:r>
          </a:p>
        </p:txBody>
      </p:sp>
      <p:sp>
        <p:nvSpPr>
          <p:cNvPr id="15" name="Rectangle 14"/>
          <p:cNvSpPr/>
          <p:nvPr/>
        </p:nvSpPr>
        <p:spPr>
          <a:xfrm>
            <a:off x="6199632" y="212140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212140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28600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it reads</a:t>
            </a:r>
          </a:p>
        </p:txBody>
      </p:sp>
      <p:sp>
        <p:nvSpPr>
          <p:cNvPr id="18" name="TextBox 17"/>
          <p:cNvSpPr txBox="1"/>
          <p:nvPr/>
        </p:nvSpPr>
        <p:spPr>
          <a:xfrm>
            <a:off x="6455664" y="265176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Just the plate area our model already found, sharpened and straightened first, and only once a violation is confirmed.</a:t>
            </a:r>
          </a:p>
        </p:txBody>
      </p:sp>
      <p:sp>
        <p:nvSpPr>
          <p:cNvPr id="19" name="Rectangle 18"/>
          <p:cNvSpPr/>
          <p:nvPr/>
        </p:nvSpPr>
        <p:spPr>
          <a:xfrm>
            <a:off x="640080"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What it produces</a:t>
            </a:r>
          </a:p>
        </p:txBody>
      </p:sp>
      <p:sp>
        <p:nvSpPr>
          <p:cNvPr id="22" name="TextBox 21"/>
          <p:cNvSpPr txBox="1"/>
          <p:nvPr/>
        </p:nvSpPr>
        <p:spPr>
          <a:xfrm>
            <a:off x="896112"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The plate number as text, double-checked against the standard Indian plate format and auto-corrected for common misreads, like the letter O versus the digit 0.</a:t>
            </a:r>
          </a:p>
        </p:txBody>
      </p:sp>
      <p:sp>
        <p:nvSpPr>
          <p:cNvPr id="23" name="Rectangle 22"/>
          <p:cNvSpPr/>
          <p:nvPr/>
        </p:nvSpPr>
        <p:spPr>
          <a:xfrm>
            <a:off x="6199632" y="4338828"/>
            <a:ext cx="5285232" cy="2016252"/>
          </a:xfrm>
          <a:prstGeom prst="rect">
            <a:avLst/>
          </a:prstGeom>
          <a:solidFill>
            <a:srgbClr val="EDE6D6"/>
          </a:solidFill>
          <a:ln w="9525">
            <a:solidFill>
              <a:srgbClr val="D7CD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4338828"/>
            <a:ext cx="54864" cy="2016252"/>
          </a:xfrm>
          <a:prstGeom prst="rect">
            <a:avLst/>
          </a:prstGeom>
          <a:solidFill>
            <a:srgbClr val="1F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503420"/>
            <a:ext cx="4828032" cy="320040"/>
          </a:xfrm>
          <a:prstGeom prst="rect">
            <a:avLst/>
          </a:prstGeom>
          <a:noFill/>
        </p:spPr>
        <p:txBody>
          <a:bodyPr wrap="square" anchor="t" lIns="0" rIns="0" tIns="0" bIns="0">
            <a:spAutoFit/>
          </a:bodyPr>
          <a:lstStyle/>
          <a:p>
            <a:pPr algn="l">
              <a:lnSpc>
                <a:spcPct val="100000"/>
              </a:lnSpc>
            </a:pPr>
            <a:r>
              <a:rPr sz="1250" b="1" i="0">
                <a:solidFill>
                  <a:srgbClr val="1F3B4D"/>
                </a:solidFill>
                <a:latin typeface="Calibri"/>
              </a:rPr>
              <a:t>Its boundary</a:t>
            </a:r>
          </a:p>
        </p:txBody>
      </p:sp>
      <p:sp>
        <p:nvSpPr>
          <p:cNvPr id="26" name="TextBox 25"/>
          <p:cNvSpPr txBox="1"/>
          <p:nvPr/>
        </p:nvSpPr>
        <p:spPr>
          <a:xfrm>
            <a:off x="6455664" y="4869180"/>
            <a:ext cx="4828032" cy="1330452"/>
          </a:xfrm>
          <a:prstGeom prst="rect">
            <a:avLst/>
          </a:prstGeom>
          <a:noFill/>
        </p:spPr>
        <p:txBody>
          <a:bodyPr wrap="square" anchor="t" lIns="0" rIns="0" tIns="0" bIns="0">
            <a:spAutoFit/>
          </a:bodyPr>
          <a:lstStyle/>
          <a:p>
            <a:pPr algn="l">
              <a:lnSpc>
                <a:spcPct val="122000"/>
              </a:lnSpc>
            </a:pPr>
            <a:r>
              <a:rPr sz="1120" b="0" i="0">
                <a:solidFill>
                  <a:srgbClr val="211D18"/>
                </a:solidFill>
                <a:latin typeface="Calibri"/>
              </a:rPr>
              <a:t>It only reads text — it never decides whether a violation happened. That decision belongs to our two detection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